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8" r:id="rId1"/>
  </p:sldMasterIdLst>
  <p:notesMasterIdLst>
    <p:notesMasterId r:id="rId23"/>
  </p:notesMasterIdLst>
  <p:sldIdLst>
    <p:sldId id="256" r:id="rId2"/>
    <p:sldId id="257" r:id="rId3"/>
    <p:sldId id="258" r:id="rId4"/>
    <p:sldId id="278" r:id="rId5"/>
    <p:sldId id="27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268" r:id="rId16"/>
    <p:sldId id="270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33"/>
    <p:restoredTop sz="74190"/>
  </p:normalViewPr>
  <p:slideViewPr>
    <p:cSldViewPr snapToGrid="0">
      <p:cViewPr varScale="1">
        <p:scale>
          <a:sx n="88" d="100"/>
          <a:sy n="88" d="100"/>
        </p:scale>
        <p:origin x="123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Wykres%20w%20programie%20Microsoft%20PowerPoint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Wykres%20w%20programie%20Microsoft%20PowerPoint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Wykres%20w%20programie%20Microsoft%20PowerPoint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Wykres%20w%20programie%20Microsoft%20PowerPoint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Wykres%20w%20programie%20Microsoft%20PowerPoint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Wykres%20w%20programie%20Microsoft%20PowerPoint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Wykres%20w%20programie%20Microsoft%20PowerPoint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Wykres%20w%20programie%20Microsoft%20PowerPoint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Wykres%20w%20programie%20Microsoft%20PowerPoint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Wykres%20w%20programie%20Microsoft%20PowerPoint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[Wykres w programie Microsoft PowerPoint]Arkusz2!Tabela przestawna2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Arkusz2!$B$3:$B$4</c:f>
              <c:strCache>
                <c:ptCount val="1"/>
                <c:pt idx="0">
                  <c:v>casual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Arkusz2!$A$5:$A$17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 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Arkusz2!$B$5:$B$17</c:f>
              <c:numCache>
                <c:formatCode>General</c:formatCode>
                <c:ptCount val="12"/>
                <c:pt idx="0">
                  <c:v>23453</c:v>
                </c:pt>
                <c:pt idx="1">
                  <c:v>27051</c:v>
                </c:pt>
                <c:pt idx="2">
                  <c:v>83064</c:v>
                </c:pt>
                <c:pt idx="3">
                  <c:v>105528</c:v>
                </c:pt>
                <c:pt idx="4">
                  <c:v>176162</c:v>
                </c:pt>
                <c:pt idx="5">
                  <c:v>279570</c:v>
                </c:pt>
                <c:pt idx="6">
                  <c:v>309293</c:v>
                </c:pt>
                <c:pt idx="7">
                  <c:v>323937</c:v>
                </c:pt>
                <c:pt idx="8">
                  <c:v>334863</c:v>
                </c:pt>
                <c:pt idx="9">
                  <c:v>210743</c:v>
                </c:pt>
                <c:pt idx="10">
                  <c:v>90805</c:v>
                </c:pt>
                <c:pt idx="11">
                  <c:v>37466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3F-BB4F-B070-777DA00472CC}"/>
            </c:ext>
          </c:extLst>
        </c:ser>
        <c:ser>
          <c:idx val="1"/>
          <c:order val="1"/>
          <c:tx>
            <c:strRef>
              <c:f>Arkusz2!$C$3:$C$4</c:f>
              <c:strCache>
                <c:ptCount val="1"/>
                <c:pt idx="0">
                  <c:v>member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Arkusz2!$A$5:$A$17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 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Arkusz2!$C$5:$C$17</c:f>
              <c:numCache>
                <c:formatCode>General</c:formatCode>
                <c:ptCount val="12"/>
                <c:pt idx="0">
                  <c:v>112352</c:v>
                </c:pt>
                <c:pt idx="1">
                  <c:v>122118</c:v>
                </c:pt>
                <c:pt idx="2">
                  <c:v>208500</c:v>
                </c:pt>
                <c:pt idx="3">
                  <c:v>257962</c:v>
                </c:pt>
                <c:pt idx="4">
                  <c:v>314091</c:v>
                </c:pt>
                <c:pt idx="5">
                  <c:v>379609</c:v>
                </c:pt>
                <c:pt idx="6">
                  <c:v>430535</c:v>
                </c:pt>
                <c:pt idx="7">
                  <c:v>443174</c:v>
                </c:pt>
                <c:pt idx="8">
                  <c:v>465705</c:v>
                </c:pt>
                <c:pt idx="9">
                  <c:v>394751</c:v>
                </c:pt>
                <c:pt idx="10">
                  <c:v>238823</c:v>
                </c:pt>
                <c:pt idx="11">
                  <c:v>137600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3F-BB4F-B070-777DA00472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0042016"/>
        <c:axId val="729998048"/>
      </c:lineChart>
      <c:catAx>
        <c:axId val="73004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729998048"/>
        <c:crosses val="autoZero"/>
        <c:auto val="1"/>
        <c:lblAlgn val="ctr"/>
        <c:lblOffset val="100"/>
        <c:noMultiLvlLbl val="0"/>
      </c:catAx>
      <c:valAx>
        <c:axId val="729998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730042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[Wykres w programie Microsoft PowerPoint]Arkusz2!Tabela przestawna2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Arkusz2!$B$3:$B$4</c:f>
              <c:strCache>
                <c:ptCount val="1"/>
                <c:pt idx="0">
                  <c:v>casual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Arkusz2!$A$5:$A$17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 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Arkusz2!$B$5:$B$17</c:f>
              <c:numCache>
                <c:formatCode>General</c:formatCode>
                <c:ptCount val="12"/>
                <c:pt idx="0">
                  <c:v>23453</c:v>
                </c:pt>
                <c:pt idx="1">
                  <c:v>27051</c:v>
                </c:pt>
                <c:pt idx="2">
                  <c:v>83064</c:v>
                </c:pt>
                <c:pt idx="3">
                  <c:v>105528</c:v>
                </c:pt>
                <c:pt idx="4">
                  <c:v>176162</c:v>
                </c:pt>
                <c:pt idx="5">
                  <c:v>279570</c:v>
                </c:pt>
                <c:pt idx="6">
                  <c:v>309293</c:v>
                </c:pt>
                <c:pt idx="7">
                  <c:v>323937</c:v>
                </c:pt>
                <c:pt idx="8">
                  <c:v>334863</c:v>
                </c:pt>
                <c:pt idx="9">
                  <c:v>210743</c:v>
                </c:pt>
                <c:pt idx="10">
                  <c:v>90805</c:v>
                </c:pt>
                <c:pt idx="11">
                  <c:v>37466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3F-BB4F-B070-777DA00472CC}"/>
            </c:ext>
          </c:extLst>
        </c:ser>
        <c:ser>
          <c:idx val="1"/>
          <c:order val="1"/>
          <c:tx>
            <c:strRef>
              <c:f>Arkusz2!$C$3:$C$4</c:f>
              <c:strCache>
                <c:ptCount val="1"/>
                <c:pt idx="0">
                  <c:v>member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Arkusz2!$A$5:$A$17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 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Arkusz2!$C$5:$C$17</c:f>
              <c:numCache>
                <c:formatCode>General</c:formatCode>
                <c:ptCount val="12"/>
                <c:pt idx="0">
                  <c:v>112352</c:v>
                </c:pt>
                <c:pt idx="1">
                  <c:v>122118</c:v>
                </c:pt>
                <c:pt idx="2">
                  <c:v>208500</c:v>
                </c:pt>
                <c:pt idx="3">
                  <c:v>257962</c:v>
                </c:pt>
                <c:pt idx="4">
                  <c:v>314091</c:v>
                </c:pt>
                <c:pt idx="5">
                  <c:v>379609</c:v>
                </c:pt>
                <c:pt idx="6">
                  <c:v>430535</c:v>
                </c:pt>
                <c:pt idx="7">
                  <c:v>443174</c:v>
                </c:pt>
                <c:pt idx="8">
                  <c:v>465705</c:v>
                </c:pt>
                <c:pt idx="9">
                  <c:v>394751</c:v>
                </c:pt>
                <c:pt idx="10">
                  <c:v>238823</c:v>
                </c:pt>
                <c:pt idx="11">
                  <c:v>137600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3F-BB4F-B070-777DA00472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0042016"/>
        <c:axId val="729998048"/>
      </c:lineChart>
      <c:catAx>
        <c:axId val="73004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729998048"/>
        <c:crosses val="autoZero"/>
        <c:auto val="1"/>
        <c:lblAlgn val="ctr"/>
        <c:lblOffset val="100"/>
        <c:noMultiLvlLbl val="0"/>
      </c:catAx>
      <c:valAx>
        <c:axId val="729998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730042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[Wykres w programie Microsoft PowerPoint]Arkusz2!Tabela przestawna2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Arkusz2!$B$3:$B$4</c:f>
              <c:strCache>
                <c:ptCount val="1"/>
                <c:pt idx="0">
                  <c:v>casual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Arkusz2!$A$5:$A$17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 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Arkusz2!$B$5:$B$17</c:f>
              <c:numCache>
                <c:formatCode>General</c:formatCode>
                <c:ptCount val="12"/>
                <c:pt idx="0">
                  <c:v>23453</c:v>
                </c:pt>
                <c:pt idx="1">
                  <c:v>27051</c:v>
                </c:pt>
                <c:pt idx="2">
                  <c:v>83064</c:v>
                </c:pt>
                <c:pt idx="3">
                  <c:v>105528</c:v>
                </c:pt>
                <c:pt idx="4">
                  <c:v>176162</c:v>
                </c:pt>
                <c:pt idx="5">
                  <c:v>279570</c:v>
                </c:pt>
                <c:pt idx="6">
                  <c:v>309293</c:v>
                </c:pt>
                <c:pt idx="7">
                  <c:v>323937</c:v>
                </c:pt>
                <c:pt idx="8">
                  <c:v>334863</c:v>
                </c:pt>
                <c:pt idx="9">
                  <c:v>210743</c:v>
                </c:pt>
                <c:pt idx="10">
                  <c:v>90805</c:v>
                </c:pt>
                <c:pt idx="11">
                  <c:v>37466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3F-BB4F-B070-777DA00472CC}"/>
            </c:ext>
          </c:extLst>
        </c:ser>
        <c:ser>
          <c:idx val="1"/>
          <c:order val="1"/>
          <c:tx>
            <c:strRef>
              <c:f>Arkusz2!$C$3:$C$4</c:f>
              <c:strCache>
                <c:ptCount val="1"/>
                <c:pt idx="0">
                  <c:v>member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Arkusz2!$A$5:$A$17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 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Arkusz2!$C$5:$C$17</c:f>
              <c:numCache>
                <c:formatCode>General</c:formatCode>
                <c:ptCount val="12"/>
                <c:pt idx="0">
                  <c:v>112352</c:v>
                </c:pt>
                <c:pt idx="1">
                  <c:v>122118</c:v>
                </c:pt>
                <c:pt idx="2">
                  <c:v>208500</c:v>
                </c:pt>
                <c:pt idx="3">
                  <c:v>257962</c:v>
                </c:pt>
                <c:pt idx="4">
                  <c:v>314091</c:v>
                </c:pt>
                <c:pt idx="5">
                  <c:v>379609</c:v>
                </c:pt>
                <c:pt idx="6">
                  <c:v>430535</c:v>
                </c:pt>
                <c:pt idx="7">
                  <c:v>443174</c:v>
                </c:pt>
                <c:pt idx="8">
                  <c:v>465705</c:v>
                </c:pt>
                <c:pt idx="9">
                  <c:v>394751</c:v>
                </c:pt>
                <c:pt idx="10">
                  <c:v>238823</c:v>
                </c:pt>
                <c:pt idx="11">
                  <c:v>137600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3F-BB4F-B070-777DA00472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0042016"/>
        <c:axId val="729998048"/>
      </c:lineChart>
      <c:catAx>
        <c:axId val="73004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729998048"/>
        <c:crosses val="autoZero"/>
        <c:auto val="1"/>
        <c:lblAlgn val="ctr"/>
        <c:lblOffset val="100"/>
        <c:noMultiLvlLbl val="0"/>
      </c:catAx>
      <c:valAx>
        <c:axId val="729998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730042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[Wykres w programie Microsoft PowerPoint]Arkusz2!Tabela przestawna2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Arkusz2!$B$3:$B$4</c:f>
              <c:strCache>
                <c:ptCount val="1"/>
                <c:pt idx="0">
                  <c:v>casual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Arkusz2!$A$5:$A$17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 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Arkusz2!$B$5:$B$17</c:f>
              <c:numCache>
                <c:formatCode>General</c:formatCode>
                <c:ptCount val="12"/>
                <c:pt idx="0">
                  <c:v>23453</c:v>
                </c:pt>
                <c:pt idx="1">
                  <c:v>27051</c:v>
                </c:pt>
                <c:pt idx="2">
                  <c:v>83064</c:v>
                </c:pt>
                <c:pt idx="3">
                  <c:v>105528</c:v>
                </c:pt>
                <c:pt idx="4">
                  <c:v>176162</c:v>
                </c:pt>
                <c:pt idx="5">
                  <c:v>279570</c:v>
                </c:pt>
                <c:pt idx="6">
                  <c:v>309293</c:v>
                </c:pt>
                <c:pt idx="7">
                  <c:v>323937</c:v>
                </c:pt>
                <c:pt idx="8">
                  <c:v>334863</c:v>
                </c:pt>
                <c:pt idx="9">
                  <c:v>210743</c:v>
                </c:pt>
                <c:pt idx="10">
                  <c:v>90805</c:v>
                </c:pt>
                <c:pt idx="11">
                  <c:v>37466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3F-BB4F-B070-777DA00472CC}"/>
            </c:ext>
          </c:extLst>
        </c:ser>
        <c:ser>
          <c:idx val="1"/>
          <c:order val="1"/>
          <c:tx>
            <c:strRef>
              <c:f>Arkusz2!$C$3:$C$4</c:f>
              <c:strCache>
                <c:ptCount val="1"/>
                <c:pt idx="0">
                  <c:v>member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Arkusz2!$A$5:$A$17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 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Arkusz2!$C$5:$C$17</c:f>
              <c:numCache>
                <c:formatCode>General</c:formatCode>
                <c:ptCount val="12"/>
                <c:pt idx="0">
                  <c:v>112352</c:v>
                </c:pt>
                <c:pt idx="1">
                  <c:v>122118</c:v>
                </c:pt>
                <c:pt idx="2">
                  <c:v>208500</c:v>
                </c:pt>
                <c:pt idx="3">
                  <c:v>257962</c:v>
                </c:pt>
                <c:pt idx="4">
                  <c:v>314091</c:v>
                </c:pt>
                <c:pt idx="5">
                  <c:v>379609</c:v>
                </c:pt>
                <c:pt idx="6">
                  <c:v>430535</c:v>
                </c:pt>
                <c:pt idx="7">
                  <c:v>443174</c:v>
                </c:pt>
                <c:pt idx="8">
                  <c:v>465705</c:v>
                </c:pt>
                <c:pt idx="9">
                  <c:v>394751</c:v>
                </c:pt>
                <c:pt idx="10">
                  <c:v>238823</c:v>
                </c:pt>
                <c:pt idx="11">
                  <c:v>137600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3F-BB4F-B070-777DA00472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0042016"/>
        <c:axId val="729998048"/>
      </c:lineChart>
      <c:catAx>
        <c:axId val="73004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729998048"/>
        <c:crosses val="autoZero"/>
        <c:auto val="1"/>
        <c:lblAlgn val="ctr"/>
        <c:lblOffset val="100"/>
        <c:noMultiLvlLbl val="0"/>
      </c:catAx>
      <c:valAx>
        <c:axId val="729998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730042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[Wykres w programie Microsoft PowerPoint]Arkusz4!Tabela przestawna3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Arkusz4!$B$3:$B$4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Arkusz4!$A$5:$A$7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Arkusz4!$B$5:$B$7</c:f>
              <c:numCache>
                <c:formatCode>General</c:formatCode>
                <c:ptCount val="2"/>
                <c:pt idx="0">
                  <c:v>1249770</c:v>
                </c:pt>
                <c:pt idx="1">
                  <c:v>752165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F1-A94A-B4FE-44706F3ADEBC}"/>
            </c:ext>
          </c:extLst>
        </c:ser>
        <c:ser>
          <c:idx val="1"/>
          <c:order val="1"/>
          <c:tx>
            <c:strRef>
              <c:f>Arkusz4!$C$3:$C$4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Arkusz4!$A$5:$A$7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Arkusz4!$C$5:$C$7</c:f>
              <c:numCache>
                <c:formatCode>General</c:formatCode>
                <c:ptCount val="2"/>
                <c:pt idx="0">
                  <c:v>2668847</c:v>
                </c:pt>
                <c:pt idx="1">
                  <c:v>836373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F1-A94A-B4FE-44706F3ADE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1415536"/>
        <c:axId val="571417248"/>
      </c:barChart>
      <c:catAx>
        <c:axId val="571415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571417248"/>
        <c:crosses val="autoZero"/>
        <c:auto val="1"/>
        <c:lblAlgn val="ctr"/>
        <c:lblOffset val="100"/>
        <c:noMultiLvlLbl val="0"/>
      </c:catAx>
      <c:valAx>
        <c:axId val="571417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571415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[Wykres w programie Microsoft PowerPoint]Arkusz4!Tabela przestawna3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Arkusz4!$B$3:$B$4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Arkusz4!$A$5:$A$7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Arkusz4!$B$5:$B$7</c:f>
              <c:numCache>
                <c:formatCode>General</c:formatCode>
                <c:ptCount val="2"/>
                <c:pt idx="0">
                  <c:v>1249770</c:v>
                </c:pt>
                <c:pt idx="1">
                  <c:v>752165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F1-A94A-B4FE-44706F3ADEBC}"/>
            </c:ext>
          </c:extLst>
        </c:ser>
        <c:ser>
          <c:idx val="1"/>
          <c:order val="1"/>
          <c:tx>
            <c:strRef>
              <c:f>Arkusz4!$C$3:$C$4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Arkusz4!$A$5:$A$7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Arkusz4!$C$5:$C$7</c:f>
              <c:numCache>
                <c:formatCode>General</c:formatCode>
                <c:ptCount val="2"/>
                <c:pt idx="0">
                  <c:v>2668847</c:v>
                </c:pt>
                <c:pt idx="1">
                  <c:v>836373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F1-A94A-B4FE-44706F3ADE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1415536"/>
        <c:axId val="571417248"/>
      </c:barChart>
      <c:catAx>
        <c:axId val="571415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571417248"/>
        <c:crosses val="autoZero"/>
        <c:auto val="1"/>
        <c:lblAlgn val="ctr"/>
        <c:lblOffset val="100"/>
        <c:noMultiLvlLbl val="0"/>
      </c:catAx>
      <c:valAx>
        <c:axId val="571417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571415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[Wykres w programie Microsoft PowerPoint]Arkusz8!Tabela przestawna6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Arkusz8!$B$3:$B$4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Arkusz8!$A$5:$A$7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Arkusz8!$B$5:$B$7</c:f>
              <c:numCache>
                <c:formatCode>General</c:formatCode>
                <c:ptCount val="2"/>
                <c:pt idx="0">
                  <c:v>28</c:v>
                </c:pt>
                <c:pt idx="1">
                  <c:v>28.6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1E-DD42-ACD6-7B29FCD69EB1}"/>
            </c:ext>
          </c:extLst>
        </c:ser>
        <c:ser>
          <c:idx val="1"/>
          <c:order val="1"/>
          <c:tx>
            <c:strRef>
              <c:f>Arkusz8!$C$3:$C$4</c:f>
              <c:strCache>
                <c:ptCount val="1"/>
                <c:pt idx="0">
                  <c:v>Midday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Arkusz8!$A$5:$A$7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Arkusz8!$C$5:$C$7</c:f>
              <c:numCache>
                <c:formatCode>General</c:formatCode>
                <c:ptCount val="2"/>
                <c:pt idx="0">
                  <c:v>42.2</c:v>
                </c:pt>
                <c:pt idx="1">
                  <c:v>36.9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1E-DD42-ACD6-7B29FCD69EB1}"/>
            </c:ext>
          </c:extLst>
        </c:ser>
        <c:ser>
          <c:idx val="2"/>
          <c:order val="2"/>
          <c:tx>
            <c:strRef>
              <c:f>Arkusz8!$D$3:$D$4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Arkusz8!$A$5:$A$7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Arkusz8!$D$5:$D$7</c:f>
              <c:numCache>
                <c:formatCode>General</c:formatCode>
                <c:ptCount val="2"/>
                <c:pt idx="0">
                  <c:v>16.2</c:v>
                </c:pt>
                <c:pt idx="1">
                  <c:v>25.5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1E-DD42-ACD6-7B29FCD69EB1}"/>
            </c:ext>
          </c:extLst>
        </c:ser>
        <c:ser>
          <c:idx val="3"/>
          <c:order val="3"/>
          <c:tx>
            <c:strRef>
              <c:f>Arkusz8!$E$3:$E$4</c:f>
              <c:strCache>
                <c:ptCount val="1"/>
                <c:pt idx="0">
                  <c:v>Night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Arkusz8!$A$5:$A$7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Arkusz8!$E$5:$E$7</c:f>
              <c:numCache>
                <c:formatCode>General</c:formatCode>
                <c:ptCount val="2"/>
                <c:pt idx="0">
                  <c:v>13.7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61E-DD42-ACD6-7B29FCD69E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92739728"/>
        <c:axId val="1893088464"/>
      </c:barChart>
      <c:catAx>
        <c:axId val="189273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893088464"/>
        <c:crosses val="autoZero"/>
        <c:auto val="1"/>
        <c:lblAlgn val="ctr"/>
        <c:lblOffset val="100"/>
        <c:noMultiLvlLbl val="0"/>
      </c:catAx>
      <c:valAx>
        <c:axId val="1893088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892739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[Wykres w programie Microsoft PowerPoint]Arkusz8!Tabela przestawna6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Arkusz8!$B$3:$B$4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Arkusz8!$A$5:$A$7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Arkusz8!$B$5:$B$7</c:f>
              <c:numCache>
                <c:formatCode>General</c:formatCode>
                <c:ptCount val="2"/>
                <c:pt idx="0">
                  <c:v>28</c:v>
                </c:pt>
                <c:pt idx="1">
                  <c:v>28.6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1E-DD42-ACD6-7B29FCD69EB1}"/>
            </c:ext>
          </c:extLst>
        </c:ser>
        <c:ser>
          <c:idx val="1"/>
          <c:order val="1"/>
          <c:tx>
            <c:strRef>
              <c:f>Arkusz8!$C$3:$C$4</c:f>
              <c:strCache>
                <c:ptCount val="1"/>
                <c:pt idx="0">
                  <c:v>Midday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Arkusz8!$A$5:$A$7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Arkusz8!$C$5:$C$7</c:f>
              <c:numCache>
                <c:formatCode>General</c:formatCode>
                <c:ptCount val="2"/>
                <c:pt idx="0">
                  <c:v>42.2</c:v>
                </c:pt>
                <c:pt idx="1">
                  <c:v>36.9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1E-DD42-ACD6-7B29FCD69EB1}"/>
            </c:ext>
          </c:extLst>
        </c:ser>
        <c:ser>
          <c:idx val="2"/>
          <c:order val="2"/>
          <c:tx>
            <c:strRef>
              <c:f>Arkusz8!$D$3:$D$4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Arkusz8!$A$5:$A$7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Arkusz8!$D$5:$D$7</c:f>
              <c:numCache>
                <c:formatCode>General</c:formatCode>
                <c:ptCount val="2"/>
                <c:pt idx="0">
                  <c:v>16.2</c:v>
                </c:pt>
                <c:pt idx="1">
                  <c:v>25.5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1E-DD42-ACD6-7B29FCD69EB1}"/>
            </c:ext>
          </c:extLst>
        </c:ser>
        <c:ser>
          <c:idx val="3"/>
          <c:order val="3"/>
          <c:tx>
            <c:strRef>
              <c:f>Arkusz8!$E$3:$E$4</c:f>
              <c:strCache>
                <c:ptCount val="1"/>
                <c:pt idx="0">
                  <c:v>Night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Arkusz8!$A$5:$A$7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Arkusz8!$E$5:$E$7</c:f>
              <c:numCache>
                <c:formatCode>General</c:formatCode>
                <c:ptCount val="2"/>
                <c:pt idx="0">
                  <c:v>13.7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61E-DD42-ACD6-7B29FCD69E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92739728"/>
        <c:axId val="1893088464"/>
      </c:barChart>
      <c:catAx>
        <c:axId val="189273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893088464"/>
        <c:crosses val="autoZero"/>
        <c:auto val="1"/>
        <c:lblAlgn val="ctr"/>
        <c:lblOffset val="100"/>
        <c:noMultiLvlLbl val="0"/>
      </c:catAx>
      <c:valAx>
        <c:axId val="1893088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892739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[Wykres w programie Microsoft PowerPoint]Arkusz9!Tabela przestawna7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Arkusz9!$B$3:$B$4</c:f>
              <c:strCache>
                <c:ptCount val="1"/>
                <c:pt idx="0">
                  <c:v>classic_bike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Arkusz9!$A$5:$A$7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Arkusz9!$B$5:$B$7</c:f>
              <c:numCache>
                <c:formatCode>General</c:formatCode>
                <c:ptCount val="2"/>
                <c:pt idx="0">
                  <c:v>38.1</c:v>
                </c:pt>
                <c:pt idx="1">
                  <c:v>39.700000000000003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D3-6643-B8F1-0C767A681ED2}"/>
            </c:ext>
          </c:extLst>
        </c:ser>
        <c:ser>
          <c:idx val="1"/>
          <c:order val="1"/>
          <c:tx>
            <c:strRef>
              <c:f>Arkusz9!$C$3:$C$4</c:f>
              <c:strCache>
                <c:ptCount val="1"/>
                <c:pt idx="0">
                  <c:v>electric_bike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Arkusz9!$A$5:$A$7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Arkusz9!$C$5:$C$7</c:f>
              <c:numCache>
                <c:formatCode>General</c:formatCode>
                <c:ptCount val="2"/>
                <c:pt idx="0">
                  <c:v>57.9</c:v>
                </c:pt>
                <c:pt idx="1">
                  <c:v>58.7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D3-6643-B8F1-0C767A681ED2}"/>
            </c:ext>
          </c:extLst>
        </c:ser>
        <c:ser>
          <c:idx val="2"/>
          <c:order val="2"/>
          <c:tx>
            <c:strRef>
              <c:f>Arkusz9!$D$3:$D$4</c:f>
              <c:strCache>
                <c:ptCount val="1"/>
                <c:pt idx="0">
                  <c:v>electric_scooter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Arkusz9!$A$5:$A$7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Arkusz9!$D$5:$D$7</c:f>
              <c:numCache>
                <c:formatCode>General</c:formatCode>
                <c:ptCount val="2"/>
                <c:pt idx="0">
                  <c:v>4.0999999999999996</c:v>
                </c:pt>
                <c:pt idx="1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D3-6643-B8F1-0C767A681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97533536"/>
        <c:axId val="728640768"/>
      </c:barChart>
      <c:catAx>
        <c:axId val="997533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728640768"/>
        <c:crosses val="autoZero"/>
        <c:auto val="1"/>
        <c:lblAlgn val="ctr"/>
        <c:lblOffset val="100"/>
        <c:noMultiLvlLbl val="0"/>
      </c:catAx>
      <c:valAx>
        <c:axId val="728640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997533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[Wykres w programie Microsoft PowerPoint]Arkusz9!Tabela przestawna7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Arkusz9!$B$3:$B$4</c:f>
              <c:strCache>
                <c:ptCount val="1"/>
                <c:pt idx="0">
                  <c:v>classic_bike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Arkusz9!$A$5:$A$7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Arkusz9!$B$5:$B$7</c:f>
              <c:numCache>
                <c:formatCode>General</c:formatCode>
                <c:ptCount val="2"/>
                <c:pt idx="0">
                  <c:v>38.1</c:v>
                </c:pt>
                <c:pt idx="1">
                  <c:v>39.700000000000003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D3-6643-B8F1-0C767A681ED2}"/>
            </c:ext>
          </c:extLst>
        </c:ser>
        <c:ser>
          <c:idx val="1"/>
          <c:order val="1"/>
          <c:tx>
            <c:strRef>
              <c:f>Arkusz9!$C$3:$C$4</c:f>
              <c:strCache>
                <c:ptCount val="1"/>
                <c:pt idx="0">
                  <c:v>electric_bike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Arkusz9!$A$5:$A$7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Arkusz9!$C$5:$C$7</c:f>
              <c:numCache>
                <c:formatCode>General</c:formatCode>
                <c:ptCount val="2"/>
                <c:pt idx="0">
                  <c:v>57.9</c:v>
                </c:pt>
                <c:pt idx="1">
                  <c:v>58.7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D3-6643-B8F1-0C767A681ED2}"/>
            </c:ext>
          </c:extLst>
        </c:ser>
        <c:ser>
          <c:idx val="2"/>
          <c:order val="2"/>
          <c:tx>
            <c:strRef>
              <c:f>Arkusz9!$D$3:$D$4</c:f>
              <c:strCache>
                <c:ptCount val="1"/>
                <c:pt idx="0">
                  <c:v>electric_scooter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Arkusz9!$A$5:$A$7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Arkusz9!$D$5:$D$7</c:f>
              <c:numCache>
                <c:formatCode>General</c:formatCode>
                <c:ptCount val="2"/>
                <c:pt idx="0">
                  <c:v>4.0999999999999996</c:v>
                </c:pt>
                <c:pt idx="1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D3-6643-B8F1-0C767A681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97533536"/>
        <c:axId val="728640768"/>
      </c:barChart>
      <c:catAx>
        <c:axId val="997533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728640768"/>
        <c:crosses val="autoZero"/>
        <c:auto val="1"/>
        <c:lblAlgn val="ctr"/>
        <c:lblOffset val="100"/>
        <c:noMultiLvlLbl val="0"/>
      </c:catAx>
      <c:valAx>
        <c:axId val="728640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997533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193262-167B-5649-82F7-CC65338774D8}" type="datetimeFigureOut">
              <a:rPr lang="pl-PL" smtClean="0"/>
              <a:t>5.11.2025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2D561-C1BD-1F49-B492-4533E15C7B6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7440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89716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F11C8-233E-A52F-BD4D-933FB4971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2A0ADDA-9230-80CB-8CFE-6187BA096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A3A5F894-674B-46EF-92A4-900C15742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F24EAE2-9530-08F4-7467-020B5E961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3637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344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 err="1"/>
              <a:t>Overview</a:t>
            </a:r>
            <a:endParaRPr lang="pl-PL" b="1" dirty="0"/>
          </a:p>
          <a:p>
            <a:r>
              <a:rPr lang="pl-PL" dirty="0"/>
              <a:t>The chart </a:t>
            </a:r>
            <a:r>
              <a:rPr lang="pl-PL" dirty="0" err="1"/>
              <a:t>compares</a:t>
            </a:r>
            <a:r>
              <a:rPr lang="pl-PL" dirty="0"/>
              <a:t> the </a:t>
            </a:r>
            <a:r>
              <a:rPr lang="pl-PL" b="1" dirty="0" err="1"/>
              <a:t>number</a:t>
            </a:r>
            <a:r>
              <a:rPr lang="pl-PL" b="1" dirty="0"/>
              <a:t> of </a:t>
            </a:r>
            <a:r>
              <a:rPr lang="pl-PL" b="1" dirty="0" err="1"/>
              <a:t>rides</a:t>
            </a:r>
            <a:r>
              <a:rPr lang="pl-PL" b="1" dirty="0"/>
              <a:t> per </a:t>
            </a:r>
            <a:r>
              <a:rPr lang="pl-PL" b="1" dirty="0" err="1"/>
              <a:t>month</a:t>
            </a:r>
            <a:r>
              <a:rPr lang="pl-PL" dirty="0"/>
              <a:t> for </a:t>
            </a:r>
            <a:r>
              <a:rPr lang="pl-PL" b="1" dirty="0" err="1"/>
              <a:t>Cyclistic</a:t>
            </a:r>
            <a:r>
              <a:rPr lang="pl-PL" b="1" dirty="0"/>
              <a:t> </a:t>
            </a:r>
            <a:r>
              <a:rPr lang="pl-PL" b="1" dirty="0" err="1"/>
              <a:t>members</a:t>
            </a:r>
            <a:r>
              <a:rPr lang="pl-PL" dirty="0"/>
              <a:t> and </a:t>
            </a:r>
            <a:r>
              <a:rPr lang="pl-PL" b="1" dirty="0"/>
              <a:t>casual </a:t>
            </a:r>
            <a:r>
              <a:rPr lang="pl-PL" b="1" dirty="0" err="1"/>
              <a:t>riders</a:t>
            </a:r>
            <a:r>
              <a:rPr lang="pl-PL" dirty="0"/>
              <a:t> from </a:t>
            </a:r>
            <a:r>
              <a:rPr lang="pl-PL" b="1" dirty="0"/>
              <a:t>January to </a:t>
            </a:r>
            <a:r>
              <a:rPr lang="pl-PL" b="1" dirty="0" err="1"/>
              <a:t>December</a:t>
            </a:r>
            <a:r>
              <a:rPr lang="pl-PL" dirty="0"/>
              <a:t>.</a:t>
            </a:r>
          </a:p>
          <a:p>
            <a:r>
              <a:rPr lang="pl-PL" dirty="0" err="1"/>
              <a:t>Each</a:t>
            </a:r>
            <a:r>
              <a:rPr lang="pl-PL" dirty="0"/>
              <a:t> </a:t>
            </a:r>
            <a:r>
              <a:rPr lang="pl-PL" dirty="0" err="1"/>
              <a:t>line</a:t>
            </a:r>
            <a:r>
              <a:rPr lang="pl-PL" dirty="0"/>
              <a:t> </a:t>
            </a:r>
            <a:r>
              <a:rPr lang="pl-PL" dirty="0" err="1"/>
              <a:t>represents</a:t>
            </a:r>
            <a:r>
              <a:rPr lang="pl-PL" dirty="0"/>
              <a:t> a </a:t>
            </a:r>
            <a:r>
              <a:rPr lang="pl-PL" dirty="0" err="1"/>
              <a:t>different</a:t>
            </a:r>
            <a:r>
              <a:rPr lang="pl-PL" dirty="0"/>
              <a:t> </a:t>
            </a:r>
            <a:r>
              <a:rPr lang="pl-PL" dirty="0" err="1"/>
              <a:t>rider</a:t>
            </a:r>
            <a:r>
              <a:rPr lang="pl-PL" dirty="0"/>
              <a:t> </a:t>
            </a:r>
            <a:r>
              <a:rPr lang="pl-PL" dirty="0" err="1"/>
              <a:t>group</a:t>
            </a:r>
            <a:r>
              <a:rPr lang="pl-PL" dirty="0"/>
              <a:t>:</a:t>
            </a:r>
          </a:p>
          <a:p>
            <a:pPr lvl="1"/>
            <a:r>
              <a:rPr lang="pl-PL" b="1" dirty="0"/>
              <a:t>Blue:</a:t>
            </a:r>
            <a:r>
              <a:rPr lang="pl-PL" dirty="0"/>
              <a:t> casual </a:t>
            </a:r>
            <a:r>
              <a:rPr lang="pl-PL" dirty="0" err="1"/>
              <a:t>riders</a:t>
            </a:r>
            <a:endParaRPr lang="pl-PL" dirty="0"/>
          </a:p>
          <a:p>
            <a:pPr lvl="1"/>
            <a:r>
              <a:rPr lang="pl-PL" b="1" dirty="0" err="1"/>
              <a:t>Cyan</a:t>
            </a:r>
            <a:r>
              <a:rPr lang="pl-PL" b="1" dirty="0"/>
              <a:t> (</a:t>
            </a:r>
            <a:r>
              <a:rPr lang="pl-PL" b="1" dirty="0" err="1"/>
              <a:t>teal</a:t>
            </a:r>
            <a:r>
              <a:rPr lang="pl-PL" b="1" dirty="0"/>
              <a:t>):</a:t>
            </a:r>
            <a:r>
              <a:rPr lang="pl-PL" dirty="0"/>
              <a:t> </a:t>
            </a:r>
            <a:r>
              <a:rPr lang="pl-PL" dirty="0" err="1"/>
              <a:t>annual</a:t>
            </a:r>
            <a:r>
              <a:rPr lang="pl-PL" dirty="0"/>
              <a:t> </a:t>
            </a:r>
            <a:r>
              <a:rPr lang="pl-PL" dirty="0" err="1"/>
              <a:t>members</a:t>
            </a:r>
            <a:endParaRPr lang="pl-PL" dirty="0"/>
          </a:p>
          <a:p>
            <a:endParaRPr lang="pl-PL" dirty="0"/>
          </a:p>
          <a:p>
            <a:r>
              <a:rPr lang="pl-PL" b="1" dirty="0"/>
              <a:t>🗓 1. </a:t>
            </a:r>
            <a:r>
              <a:rPr lang="pl-PL" b="1" dirty="0" err="1"/>
              <a:t>Seasonal</a:t>
            </a:r>
            <a:r>
              <a:rPr lang="pl-PL" b="1" dirty="0"/>
              <a:t> </a:t>
            </a:r>
            <a:r>
              <a:rPr lang="pl-PL" b="1" dirty="0" err="1"/>
              <a:t>Trends</a:t>
            </a:r>
            <a:endParaRPr lang="pl-PL" b="1" dirty="0"/>
          </a:p>
          <a:p>
            <a:r>
              <a:rPr lang="pl-PL" dirty="0"/>
              <a:t>Both </a:t>
            </a:r>
            <a:r>
              <a:rPr lang="pl-PL" dirty="0" err="1"/>
              <a:t>groups</a:t>
            </a:r>
            <a:r>
              <a:rPr lang="pl-PL" dirty="0"/>
              <a:t> </a:t>
            </a:r>
            <a:r>
              <a:rPr lang="pl-PL" dirty="0" err="1"/>
              <a:t>ride</a:t>
            </a:r>
            <a:r>
              <a:rPr lang="pl-PL" dirty="0"/>
              <a:t> </a:t>
            </a:r>
            <a:r>
              <a:rPr lang="pl-PL" dirty="0" err="1"/>
              <a:t>more</a:t>
            </a:r>
            <a:r>
              <a:rPr lang="pl-PL" dirty="0"/>
              <a:t> in </a:t>
            </a:r>
            <a:r>
              <a:rPr lang="pl-PL" b="1" dirty="0"/>
              <a:t>spring and </a:t>
            </a:r>
            <a:r>
              <a:rPr lang="pl-PL" b="1" dirty="0" err="1"/>
              <a:t>summer</a:t>
            </a:r>
            <a:r>
              <a:rPr lang="pl-PL" dirty="0"/>
              <a:t>, </a:t>
            </a:r>
            <a:r>
              <a:rPr lang="pl-PL" dirty="0" err="1"/>
              <a:t>peaking</a:t>
            </a:r>
            <a:r>
              <a:rPr lang="pl-PL" dirty="0"/>
              <a:t> in </a:t>
            </a:r>
            <a:r>
              <a:rPr lang="pl-PL" b="1" dirty="0" err="1"/>
              <a:t>July</a:t>
            </a:r>
            <a:r>
              <a:rPr lang="pl-PL" b="1" dirty="0"/>
              <a:t>–August</a:t>
            </a:r>
            <a:r>
              <a:rPr lang="pl-PL" dirty="0"/>
              <a:t>.</a:t>
            </a:r>
          </a:p>
          <a:p>
            <a:r>
              <a:rPr lang="pl-PL" dirty="0"/>
              <a:t>Sharp </a:t>
            </a:r>
            <a:r>
              <a:rPr lang="pl-PL" dirty="0" err="1"/>
              <a:t>decline</a:t>
            </a:r>
            <a:r>
              <a:rPr lang="pl-PL" dirty="0"/>
              <a:t> in </a:t>
            </a:r>
            <a:r>
              <a:rPr lang="pl-PL" b="1" dirty="0" err="1"/>
              <a:t>autumn</a:t>
            </a:r>
            <a:r>
              <a:rPr lang="pl-PL" b="1" dirty="0"/>
              <a:t> and </a:t>
            </a:r>
            <a:r>
              <a:rPr lang="pl-PL" b="1" dirty="0" err="1"/>
              <a:t>winter</a:t>
            </a:r>
            <a:r>
              <a:rPr lang="pl-PL" dirty="0"/>
              <a:t>, </a:t>
            </a:r>
            <a:r>
              <a:rPr lang="pl-PL" dirty="0" err="1"/>
              <a:t>showing</a:t>
            </a:r>
            <a:r>
              <a:rPr lang="pl-PL" dirty="0"/>
              <a:t> </a:t>
            </a:r>
            <a:r>
              <a:rPr lang="pl-PL" dirty="0" err="1"/>
              <a:t>strong</a:t>
            </a:r>
            <a:r>
              <a:rPr lang="pl-PL" dirty="0"/>
              <a:t> </a:t>
            </a:r>
            <a:r>
              <a:rPr lang="pl-PL" b="1" dirty="0" err="1"/>
              <a:t>seasonal</a:t>
            </a:r>
            <a:r>
              <a:rPr lang="pl-PL" b="1" dirty="0"/>
              <a:t> </a:t>
            </a:r>
            <a:r>
              <a:rPr lang="pl-PL" b="1" dirty="0" err="1"/>
              <a:t>dependence</a:t>
            </a:r>
            <a:r>
              <a:rPr lang="pl-PL" dirty="0"/>
              <a:t>.</a:t>
            </a:r>
          </a:p>
          <a:p>
            <a:r>
              <a:rPr lang="pl-PL" dirty="0" err="1"/>
              <a:t>Weather</a:t>
            </a:r>
            <a:r>
              <a:rPr lang="pl-PL" dirty="0"/>
              <a:t> and </a:t>
            </a:r>
            <a:r>
              <a:rPr lang="pl-PL" dirty="0" err="1"/>
              <a:t>daylight</a:t>
            </a:r>
            <a:r>
              <a:rPr lang="pl-PL" dirty="0"/>
              <a:t> </a:t>
            </a:r>
            <a:r>
              <a:rPr lang="pl-PL" dirty="0" err="1"/>
              <a:t>likely</a:t>
            </a:r>
            <a:r>
              <a:rPr lang="pl-PL" dirty="0"/>
              <a:t> major </a:t>
            </a:r>
            <a:r>
              <a:rPr lang="pl-PL" dirty="0" err="1"/>
              <a:t>factors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57062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2EA8F-0558-B127-C339-BE8CE7EE9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F25C166-08C4-C674-97C5-FE0E59306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1B3A91DD-D1D9-2115-A737-B97B2956A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  <a:p>
            <a:r>
              <a:rPr lang="pl-PL" b="1" dirty="0"/>
              <a:t>👥 2. </a:t>
            </a:r>
            <a:r>
              <a:rPr lang="pl-PL" b="1" dirty="0" err="1"/>
              <a:t>Member</a:t>
            </a:r>
            <a:r>
              <a:rPr lang="pl-PL" b="1" dirty="0"/>
              <a:t> </a:t>
            </a:r>
            <a:r>
              <a:rPr lang="pl-PL" b="1" dirty="0" err="1"/>
              <a:t>Behavior</a:t>
            </a:r>
            <a:endParaRPr lang="pl-PL" b="1" dirty="0"/>
          </a:p>
          <a:p>
            <a:r>
              <a:rPr lang="pl-PL" dirty="0" err="1"/>
              <a:t>Members</a:t>
            </a:r>
            <a:r>
              <a:rPr lang="pl-PL" dirty="0"/>
              <a:t> </a:t>
            </a:r>
            <a:r>
              <a:rPr lang="pl-PL" dirty="0" err="1"/>
              <a:t>maintain</a:t>
            </a:r>
            <a:r>
              <a:rPr lang="pl-PL" dirty="0"/>
              <a:t> </a:t>
            </a:r>
            <a:r>
              <a:rPr lang="pl-PL" b="1" dirty="0" err="1"/>
              <a:t>steady</a:t>
            </a:r>
            <a:r>
              <a:rPr lang="pl-PL" b="1" dirty="0"/>
              <a:t> </a:t>
            </a:r>
            <a:r>
              <a:rPr lang="pl-PL" b="1" dirty="0" err="1"/>
              <a:t>usage</a:t>
            </a:r>
            <a:r>
              <a:rPr lang="pl-PL" b="1" dirty="0"/>
              <a:t> </a:t>
            </a:r>
            <a:r>
              <a:rPr lang="pl-PL" b="1" dirty="0" err="1"/>
              <a:t>year-round</a:t>
            </a:r>
            <a:r>
              <a:rPr lang="pl-PL" dirty="0"/>
              <a:t>.</a:t>
            </a:r>
          </a:p>
          <a:p>
            <a:r>
              <a:rPr lang="pl-PL" dirty="0" err="1"/>
              <a:t>Even</a:t>
            </a:r>
            <a:r>
              <a:rPr lang="pl-PL" dirty="0"/>
              <a:t> in </a:t>
            </a:r>
            <a:r>
              <a:rPr lang="pl-PL" dirty="0" err="1"/>
              <a:t>colder</a:t>
            </a:r>
            <a:r>
              <a:rPr lang="pl-PL" dirty="0"/>
              <a:t> </a:t>
            </a:r>
            <a:r>
              <a:rPr lang="pl-PL" dirty="0" err="1"/>
              <a:t>months</a:t>
            </a:r>
            <a:r>
              <a:rPr lang="pl-PL" dirty="0"/>
              <a:t>, </a:t>
            </a:r>
            <a:r>
              <a:rPr lang="pl-PL" dirty="0" err="1"/>
              <a:t>member</a:t>
            </a:r>
            <a:r>
              <a:rPr lang="pl-PL" dirty="0"/>
              <a:t> </a:t>
            </a:r>
            <a:r>
              <a:rPr lang="pl-PL" dirty="0" err="1"/>
              <a:t>rides</a:t>
            </a:r>
            <a:r>
              <a:rPr lang="pl-PL" dirty="0"/>
              <a:t> </a:t>
            </a:r>
            <a:r>
              <a:rPr lang="pl-PL" dirty="0" err="1"/>
              <a:t>stay</a:t>
            </a:r>
            <a:r>
              <a:rPr lang="pl-PL" dirty="0"/>
              <a:t> </a:t>
            </a:r>
            <a:r>
              <a:rPr lang="pl-PL" dirty="0" err="1"/>
              <a:t>relatively</a:t>
            </a:r>
            <a:r>
              <a:rPr lang="pl-PL" dirty="0"/>
              <a:t> high.</a:t>
            </a:r>
          </a:p>
          <a:p>
            <a:r>
              <a:rPr lang="pl-PL" dirty="0" err="1"/>
              <a:t>Indicates</a:t>
            </a:r>
            <a:r>
              <a:rPr lang="pl-PL" dirty="0"/>
              <a:t>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b="1" dirty="0" err="1"/>
              <a:t>commuting</a:t>
            </a:r>
            <a:r>
              <a:rPr lang="pl-PL" b="1" dirty="0"/>
              <a:t> </a:t>
            </a:r>
            <a:r>
              <a:rPr lang="pl-PL" b="1" dirty="0" err="1"/>
              <a:t>or</a:t>
            </a:r>
            <a:r>
              <a:rPr lang="pl-PL" b="1" dirty="0"/>
              <a:t> </a:t>
            </a:r>
            <a:r>
              <a:rPr lang="pl-PL" b="1" dirty="0" err="1"/>
              <a:t>habitual</a:t>
            </a:r>
            <a:r>
              <a:rPr lang="pl-PL" b="1" dirty="0"/>
              <a:t> </a:t>
            </a:r>
            <a:r>
              <a:rPr lang="pl-PL" b="1" dirty="0" err="1"/>
              <a:t>trips</a:t>
            </a:r>
            <a:r>
              <a:rPr lang="pl-PL" dirty="0"/>
              <a:t> — not </a:t>
            </a:r>
            <a:r>
              <a:rPr lang="pl-PL" dirty="0" err="1"/>
              <a:t>just</a:t>
            </a:r>
            <a:r>
              <a:rPr lang="pl-PL" dirty="0"/>
              <a:t> </a:t>
            </a:r>
            <a:r>
              <a:rPr lang="pl-PL" dirty="0" err="1"/>
              <a:t>recreation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BA1B490-3B7F-FBD0-D3B9-4D94D8DE8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97235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5B8E4-F1AC-F42F-E31E-60901F2FF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8937E6F-6D89-2656-ECC6-13448129A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0EDAAA0-4DA8-FCDE-F50A-4F001D1ED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  <a:p>
            <a:r>
              <a:rPr lang="pl-PL" b="1" dirty="0"/>
              <a:t>🚲 3. Casual Rider </a:t>
            </a:r>
            <a:r>
              <a:rPr lang="pl-PL" b="1" dirty="0" err="1"/>
              <a:t>Behavior</a:t>
            </a:r>
            <a:endParaRPr lang="pl-PL" b="1" dirty="0"/>
          </a:p>
          <a:p>
            <a:r>
              <a:rPr lang="pl-PL" dirty="0"/>
              <a:t>Casual </a:t>
            </a:r>
            <a:r>
              <a:rPr lang="pl-PL" dirty="0" err="1"/>
              <a:t>rides</a:t>
            </a:r>
            <a:r>
              <a:rPr lang="pl-PL" dirty="0"/>
              <a:t> </a:t>
            </a:r>
            <a:r>
              <a:rPr lang="pl-PL" b="1" dirty="0" err="1"/>
              <a:t>spike</a:t>
            </a:r>
            <a:r>
              <a:rPr lang="pl-PL" b="1" dirty="0"/>
              <a:t> </a:t>
            </a:r>
            <a:r>
              <a:rPr lang="pl-PL" b="1" dirty="0" err="1"/>
              <a:t>during</a:t>
            </a:r>
            <a:r>
              <a:rPr lang="pl-PL" b="1" dirty="0"/>
              <a:t> </a:t>
            </a:r>
            <a:r>
              <a:rPr lang="pl-PL" b="1" dirty="0" err="1"/>
              <a:t>summer</a:t>
            </a:r>
            <a:r>
              <a:rPr lang="pl-PL" dirty="0"/>
              <a:t> and </a:t>
            </a:r>
            <a:r>
              <a:rPr lang="pl-PL" b="1" dirty="0"/>
              <a:t>drop </a:t>
            </a:r>
            <a:r>
              <a:rPr lang="pl-PL" b="1" dirty="0" err="1"/>
              <a:t>sharply</a:t>
            </a:r>
            <a:r>
              <a:rPr lang="pl-PL" dirty="0"/>
              <a:t> in off-</a:t>
            </a:r>
            <a:r>
              <a:rPr lang="pl-PL" dirty="0" err="1"/>
              <a:t>season</a:t>
            </a:r>
            <a:r>
              <a:rPr lang="pl-PL" dirty="0"/>
              <a:t>.</a:t>
            </a:r>
          </a:p>
          <a:p>
            <a:r>
              <a:rPr lang="pl-PL" dirty="0" err="1"/>
              <a:t>Suggests</a:t>
            </a:r>
            <a:r>
              <a:rPr lang="pl-PL" dirty="0"/>
              <a:t> </a:t>
            </a:r>
            <a:r>
              <a:rPr lang="pl-PL" b="1" dirty="0" err="1"/>
              <a:t>recreational</a:t>
            </a:r>
            <a:r>
              <a:rPr lang="pl-PL" b="1" dirty="0"/>
              <a:t> </a:t>
            </a:r>
            <a:r>
              <a:rPr lang="pl-PL" b="1" dirty="0" err="1"/>
              <a:t>or</a:t>
            </a:r>
            <a:r>
              <a:rPr lang="pl-PL" b="1" dirty="0"/>
              <a:t> </a:t>
            </a:r>
            <a:r>
              <a:rPr lang="pl-PL" b="1" dirty="0" err="1"/>
              <a:t>tourist</a:t>
            </a:r>
            <a:r>
              <a:rPr lang="pl-PL" b="1" dirty="0"/>
              <a:t> </a:t>
            </a:r>
            <a:r>
              <a:rPr lang="pl-PL" b="1" dirty="0" err="1"/>
              <a:t>use</a:t>
            </a:r>
            <a:r>
              <a:rPr lang="pl-PL" dirty="0"/>
              <a:t> </a:t>
            </a:r>
            <a:r>
              <a:rPr lang="pl-PL" dirty="0" err="1"/>
              <a:t>patterns</a:t>
            </a:r>
            <a:r>
              <a:rPr lang="pl-PL" dirty="0"/>
              <a:t>.</a:t>
            </a:r>
          </a:p>
          <a:p>
            <a:r>
              <a:rPr lang="pl-PL" dirty="0" err="1"/>
              <a:t>Casuals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b="1" dirty="0" err="1"/>
              <a:t>weather-sensitive</a:t>
            </a:r>
            <a:r>
              <a:rPr lang="pl-PL" b="1" dirty="0"/>
              <a:t> and </a:t>
            </a:r>
            <a:r>
              <a:rPr lang="pl-PL" b="1" dirty="0" err="1"/>
              <a:t>short</a:t>
            </a:r>
            <a:r>
              <a:rPr lang="pl-PL" b="1" dirty="0"/>
              <a:t>-term</a:t>
            </a:r>
            <a:r>
              <a:rPr lang="pl-PL" dirty="0"/>
              <a:t> </a:t>
            </a:r>
            <a:r>
              <a:rPr lang="pl-PL" dirty="0" err="1"/>
              <a:t>users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5B43F24-BFFD-B8ED-91D1-2C7FD6A99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15707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2903C-6773-F4F7-05CB-6E3A6E6E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2EBB24B-B488-32AE-124C-7E3CCEE1C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7939C09-B520-D61C-6CEC-B68CD3EBB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842BC07-3AFF-B607-754C-5D65249BB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5735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 err="1"/>
              <a:t>Overview</a:t>
            </a:r>
            <a:endParaRPr lang="pl-PL" b="1" dirty="0"/>
          </a:p>
          <a:p>
            <a:r>
              <a:rPr lang="pl-PL" dirty="0"/>
              <a:t>The chart </a:t>
            </a:r>
            <a:r>
              <a:rPr lang="pl-PL" dirty="0" err="1"/>
              <a:t>compares</a:t>
            </a:r>
            <a:r>
              <a:rPr lang="pl-PL" dirty="0"/>
              <a:t> </a:t>
            </a:r>
            <a:r>
              <a:rPr lang="pl-PL" dirty="0" err="1"/>
              <a:t>Cyclistic</a:t>
            </a:r>
            <a:r>
              <a:rPr lang="pl-PL" dirty="0"/>
              <a:t> </a:t>
            </a:r>
            <a:r>
              <a:rPr lang="pl-PL" dirty="0" err="1"/>
              <a:t>ridership</a:t>
            </a:r>
            <a:r>
              <a:rPr lang="pl-PL" dirty="0"/>
              <a:t> </a:t>
            </a:r>
            <a:r>
              <a:rPr lang="pl-PL" dirty="0" err="1"/>
              <a:t>between</a:t>
            </a:r>
            <a:r>
              <a:rPr lang="pl-PL" dirty="0"/>
              <a:t> </a:t>
            </a:r>
            <a:r>
              <a:rPr lang="pl-PL" b="1" dirty="0" err="1"/>
              <a:t>members</a:t>
            </a:r>
            <a:r>
              <a:rPr lang="pl-PL" b="1" dirty="0"/>
              <a:t> and casual </a:t>
            </a:r>
            <a:r>
              <a:rPr lang="pl-PL" b="1" dirty="0" err="1"/>
              <a:t>users</a:t>
            </a:r>
            <a:r>
              <a:rPr lang="pl-PL" dirty="0"/>
              <a:t> on </a:t>
            </a:r>
            <a:r>
              <a:rPr lang="pl-PL" b="1" dirty="0" err="1"/>
              <a:t>weekdays</a:t>
            </a:r>
            <a:r>
              <a:rPr lang="pl-PL" b="1" dirty="0"/>
              <a:t> and </a:t>
            </a:r>
            <a:r>
              <a:rPr lang="pl-PL" b="1" dirty="0" err="1"/>
              <a:t>weekends</a:t>
            </a:r>
            <a:r>
              <a:rPr lang="pl-PL" dirty="0"/>
              <a:t>.</a:t>
            </a:r>
          </a:p>
          <a:p>
            <a:r>
              <a:rPr lang="pl-PL" dirty="0" err="1"/>
              <a:t>Each</a:t>
            </a:r>
            <a:r>
              <a:rPr lang="pl-PL" dirty="0"/>
              <a:t> </a:t>
            </a:r>
            <a:r>
              <a:rPr lang="pl-PL" dirty="0" err="1"/>
              <a:t>line</a:t>
            </a:r>
            <a:r>
              <a:rPr lang="pl-PL" dirty="0"/>
              <a:t> </a:t>
            </a:r>
            <a:r>
              <a:rPr lang="pl-PL" dirty="0" err="1"/>
              <a:t>represents</a:t>
            </a:r>
            <a:r>
              <a:rPr lang="pl-PL" dirty="0"/>
              <a:t> a </a:t>
            </a:r>
            <a:r>
              <a:rPr lang="pl-PL" dirty="0" err="1"/>
              <a:t>different</a:t>
            </a:r>
            <a:r>
              <a:rPr lang="pl-PL" dirty="0"/>
              <a:t> </a:t>
            </a:r>
            <a:r>
              <a:rPr lang="pl-PL" dirty="0" err="1"/>
              <a:t>rider</a:t>
            </a:r>
            <a:r>
              <a:rPr lang="pl-PL" dirty="0"/>
              <a:t> </a:t>
            </a:r>
            <a:r>
              <a:rPr lang="pl-PL" dirty="0" err="1"/>
              <a:t>group</a:t>
            </a:r>
            <a:r>
              <a:rPr lang="pl-PL" dirty="0"/>
              <a:t>:</a:t>
            </a:r>
          </a:p>
          <a:p>
            <a:pPr lvl="1"/>
            <a:r>
              <a:rPr lang="pl-PL" b="1" dirty="0"/>
              <a:t>Blue:</a:t>
            </a:r>
            <a:r>
              <a:rPr lang="pl-PL" dirty="0"/>
              <a:t> casual </a:t>
            </a:r>
            <a:r>
              <a:rPr lang="pl-PL" dirty="0" err="1"/>
              <a:t>riders</a:t>
            </a:r>
            <a:endParaRPr lang="pl-PL" dirty="0"/>
          </a:p>
          <a:p>
            <a:pPr lvl="1"/>
            <a:r>
              <a:rPr lang="pl-PL" b="1" dirty="0" err="1"/>
              <a:t>Cyan</a:t>
            </a:r>
            <a:r>
              <a:rPr lang="pl-PL" b="1" dirty="0"/>
              <a:t> (</a:t>
            </a:r>
            <a:r>
              <a:rPr lang="pl-PL" b="1" dirty="0" err="1"/>
              <a:t>teal</a:t>
            </a:r>
            <a:r>
              <a:rPr lang="pl-PL" b="1" dirty="0"/>
              <a:t>):</a:t>
            </a:r>
            <a:r>
              <a:rPr lang="pl-PL" dirty="0"/>
              <a:t> </a:t>
            </a:r>
            <a:r>
              <a:rPr lang="pl-PL" dirty="0" err="1"/>
              <a:t>annual</a:t>
            </a:r>
            <a:r>
              <a:rPr lang="pl-PL" dirty="0"/>
              <a:t> </a:t>
            </a:r>
            <a:r>
              <a:rPr lang="pl-PL" dirty="0" err="1"/>
              <a:t>members</a:t>
            </a:r>
            <a:endParaRPr lang="pl-PL" dirty="0"/>
          </a:p>
          <a:p>
            <a:endParaRPr lang="pl-PL" dirty="0"/>
          </a:p>
          <a:p>
            <a:r>
              <a:rPr lang="pl-PL" b="1" dirty="0"/>
              <a:t>1. </a:t>
            </a:r>
            <a:r>
              <a:rPr lang="pl-PL" b="1" dirty="0" err="1"/>
              <a:t>Weekday</a:t>
            </a:r>
            <a:r>
              <a:rPr lang="pl-PL" b="1" dirty="0"/>
              <a:t> Activity</a:t>
            </a:r>
          </a:p>
          <a:p>
            <a:r>
              <a:rPr lang="pl-PL" b="1" dirty="0" err="1"/>
              <a:t>Members</a:t>
            </a:r>
            <a:r>
              <a:rPr lang="pl-PL" b="1" dirty="0"/>
              <a:t> </a:t>
            </a:r>
            <a:r>
              <a:rPr lang="pl-PL" b="1" dirty="0" err="1"/>
              <a:t>ride</a:t>
            </a:r>
            <a:r>
              <a:rPr lang="pl-PL" b="1" dirty="0"/>
              <a:t> much </a:t>
            </a:r>
            <a:r>
              <a:rPr lang="pl-PL" b="1" dirty="0" err="1"/>
              <a:t>more</a:t>
            </a:r>
            <a:r>
              <a:rPr lang="pl-PL" b="1" dirty="0"/>
              <a:t> on </a:t>
            </a:r>
            <a:r>
              <a:rPr lang="pl-PL" b="1" dirty="0" err="1"/>
              <a:t>weekdays</a:t>
            </a:r>
            <a:r>
              <a:rPr lang="pl-PL" dirty="0"/>
              <a:t> — </a:t>
            </a:r>
            <a:r>
              <a:rPr lang="pl-PL" dirty="0" err="1"/>
              <a:t>nearly</a:t>
            </a:r>
            <a:r>
              <a:rPr lang="pl-PL" dirty="0"/>
              <a:t> </a:t>
            </a:r>
            <a:r>
              <a:rPr lang="pl-PL" dirty="0" err="1"/>
              <a:t>double</a:t>
            </a:r>
            <a:r>
              <a:rPr lang="pl-PL" dirty="0"/>
              <a:t> the casual </a:t>
            </a:r>
            <a:r>
              <a:rPr lang="pl-PL" dirty="0" err="1"/>
              <a:t>riders</a:t>
            </a:r>
            <a:r>
              <a:rPr lang="pl-PL" dirty="0"/>
              <a:t>.</a:t>
            </a:r>
          </a:p>
          <a:p>
            <a:r>
              <a:rPr lang="pl-PL" dirty="0" err="1"/>
              <a:t>Suggests</a:t>
            </a:r>
            <a:r>
              <a:rPr lang="pl-PL" dirty="0"/>
              <a:t> </a:t>
            </a:r>
            <a:r>
              <a:rPr lang="pl-PL" dirty="0" err="1"/>
              <a:t>members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bikes</a:t>
            </a:r>
            <a:r>
              <a:rPr lang="pl-PL" dirty="0"/>
              <a:t> </a:t>
            </a:r>
            <a:r>
              <a:rPr lang="pl-PL" dirty="0" err="1"/>
              <a:t>mainly</a:t>
            </a:r>
            <a:r>
              <a:rPr lang="pl-PL" dirty="0"/>
              <a:t> for </a:t>
            </a:r>
            <a:r>
              <a:rPr lang="pl-PL" b="1" dirty="0" err="1"/>
              <a:t>commuting</a:t>
            </a:r>
            <a:r>
              <a:rPr lang="pl-PL" b="1" dirty="0"/>
              <a:t> and </a:t>
            </a:r>
            <a:r>
              <a:rPr lang="pl-PL" b="1" dirty="0" err="1"/>
              <a:t>daily</a:t>
            </a:r>
            <a:r>
              <a:rPr lang="pl-PL" b="1" dirty="0"/>
              <a:t> </a:t>
            </a:r>
            <a:r>
              <a:rPr lang="pl-PL" b="1" dirty="0" err="1"/>
              <a:t>travel</a:t>
            </a:r>
            <a:r>
              <a:rPr lang="pl-PL" dirty="0"/>
              <a:t>.</a:t>
            </a:r>
          </a:p>
          <a:p>
            <a:r>
              <a:rPr lang="pl-PL" dirty="0" err="1"/>
              <a:t>Indicates</a:t>
            </a:r>
            <a:r>
              <a:rPr lang="pl-PL" dirty="0"/>
              <a:t> </a:t>
            </a:r>
            <a:r>
              <a:rPr lang="pl-PL" dirty="0" err="1"/>
              <a:t>strong</a:t>
            </a:r>
            <a:r>
              <a:rPr lang="pl-PL" dirty="0"/>
              <a:t> </a:t>
            </a:r>
            <a:r>
              <a:rPr lang="pl-PL" dirty="0" err="1"/>
              <a:t>integration</a:t>
            </a:r>
            <a:r>
              <a:rPr lang="pl-PL" dirty="0"/>
              <a:t> </a:t>
            </a:r>
            <a:r>
              <a:rPr lang="pl-PL" dirty="0" err="1"/>
              <a:t>into</a:t>
            </a:r>
            <a:r>
              <a:rPr lang="pl-PL" dirty="0"/>
              <a:t> </a:t>
            </a:r>
            <a:r>
              <a:rPr lang="pl-PL" dirty="0" err="1"/>
              <a:t>regular</a:t>
            </a:r>
            <a:r>
              <a:rPr lang="pl-PL" dirty="0"/>
              <a:t> </a:t>
            </a:r>
            <a:r>
              <a:rPr lang="pl-PL" dirty="0" err="1"/>
              <a:t>routines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b="1" dirty="0"/>
              <a:t>2. Weekend Activity</a:t>
            </a:r>
          </a:p>
          <a:p>
            <a:r>
              <a:rPr lang="pl-PL" b="1" dirty="0"/>
              <a:t>Casual </a:t>
            </a:r>
            <a:r>
              <a:rPr lang="pl-PL" b="1" dirty="0" err="1"/>
              <a:t>riders</a:t>
            </a:r>
            <a:r>
              <a:rPr lang="pl-PL" b="1" dirty="0"/>
              <a:t>’ </a:t>
            </a:r>
            <a:r>
              <a:rPr lang="pl-PL" b="1" dirty="0" err="1"/>
              <a:t>share</a:t>
            </a:r>
            <a:r>
              <a:rPr lang="pl-PL" b="1" dirty="0"/>
              <a:t> </a:t>
            </a:r>
            <a:r>
              <a:rPr lang="pl-PL" b="1" dirty="0" err="1"/>
              <a:t>rises</a:t>
            </a:r>
            <a:r>
              <a:rPr lang="pl-PL" b="1" dirty="0"/>
              <a:t> on </a:t>
            </a:r>
            <a:r>
              <a:rPr lang="pl-PL" b="1" dirty="0" err="1"/>
              <a:t>weekends</a:t>
            </a:r>
            <a:r>
              <a:rPr lang="pl-PL" dirty="0"/>
              <a:t>, </a:t>
            </a:r>
            <a:r>
              <a:rPr lang="pl-PL" dirty="0" err="1"/>
              <a:t>nearly</a:t>
            </a:r>
            <a:r>
              <a:rPr lang="pl-PL" dirty="0"/>
              <a:t> </a:t>
            </a:r>
            <a:r>
              <a:rPr lang="pl-PL" dirty="0" err="1"/>
              <a:t>matching</a:t>
            </a:r>
            <a:r>
              <a:rPr lang="pl-PL" dirty="0"/>
              <a:t> </a:t>
            </a:r>
            <a:r>
              <a:rPr lang="pl-PL" dirty="0" err="1"/>
              <a:t>members</a:t>
            </a:r>
            <a:r>
              <a:rPr lang="pl-PL" dirty="0"/>
              <a:t>.</a:t>
            </a:r>
          </a:p>
          <a:p>
            <a:r>
              <a:rPr lang="pl-PL" dirty="0" err="1"/>
              <a:t>Points</a:t>
            </a:r>
            <a:r>
              <a:rPr lang="pl-PL" dirty="0"/>
              <a:t> to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b="1" dirty="0" err="1"/>
              <a:t>leisure</a:t>
            </a:r>
            <a:r>
              <a:rPr lang="pl-PL" b="1" dirty="0"/>
              <a:t> and </a:t>
            </a:r>
            <a:r>
              <a:rPr lang="pl-PL" b="1" dirty="0" err="1"/>
              <a:t>recreational</a:t>
            </a:r>
            <a:r>
              <a:rPr lang="pl-PL" b="1" dirty="0"/>
              <a:t> </a:t>
            </a:r>
            <a:r>
              <a:rPr lang="pl-PL" b="1" dirty="0" err="1"/>
              <a:t>riding</a:t>
            </a:r>
            <a:r>
              <a:rPr lang="pl-PL" dirty="0"/>
              <a:t> </a:t>
            </a:r>
            <a:r>
              <a:rPr lang="pl-PL" dirty="0" err="1"/>
              <a:t>among</a:t>
            </a:r>
            <a:r>
              <a:rPr lang="pl-PL" dirty="0"/>
              <a:t> casual </a:t>
            </a:r>
            <a:r>
              <a:rPr lang="pl-PL" dirty="0" err="1"/>
              <a:t>users</a:t>
            </a:r>
            <a:r>
              <a:rPr lang="pl-PL" dirty="0"/>
              <a:t>.</a:t>
            </a:r>
          </a:p>
          <a:p>
            <a:r>
              <a:rPr lang="pl-PL" dirty="0" err="1"/>
              <a:t>Members</a:t>
            </a:r>
            <a:r>
              <a:rPr lang="pl-PL" dirty="0"/>
              <a:t> </a:t>
            </a:r>
            <a:r>
              <a:rPr lang="pl-PL" dirty="0" err="1"/>
              <a:t>ride</a:t>
            </a:r>
            <a:r>
              <a:rPr lang="pl-PL" dirty="0"/>
              <a:t> </a:t>
            </a:r>
            <a:r>
              <a:rPr lang="pl-PL" dirty="0" err="1"/>
              <a:t>slightly</a:t>
            </a:r>
            <a:r>
              <a:rPr lang="pl-PL" dirty="0"/>
              <a:t> less, </a:t>
            </a:r>
            <a:r>
              <a:rPr lang="pl-PL" dirty="0" err="1"/>
              <a:t>reflecting</a:t>
            </a:r>
            <a:r>
              <a:rPr lang="pl-PL" dirty="0"/>
              <a:t> </a:t>
            </a:r>
            <a:r>
              <a:rPr lang="pl-PL" dirty="0" err="1"/>
              <a:t>workweek</a:t>
            </a:r>
            <a:r>
              <a:rPr lang="pl-PL" dirty="0"/>
              <a:t> </a:t>
            </a:r>
            <a:r>
              <a:rPr lang="pl-PL" dirty="0" err="1"/>
              <a:t>usage</a:t>
            </a:r>
            <a:r>
              <a:rPr lang="pl-PL" dirty="0"/>
              <a:t> </a:t>
            </a:r>
            <a:r>
              <a:rPr lang="pl-PL" dirty="0" err="1"/>
              <a:t>patterns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6197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2B76A-A556-312D-DE4C-C310C6A8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0C9111FE-120B-24A1-3018-4C042D6D7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7E3259C-5528-FB08-CCD3-4E9A38DD6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8A4C9DB-E1E7-2F1A-9E19-DB40E279A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5744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The chart </a:t>
            </a:r>
            <a:r>
              <a:rPr lang="pl-PL" dirty="0" err="1"/>
              <a:t>compares</a:t>
            </a:r>
            <a:r>
              <a:rPr lang="pl-PL" dirty="0"/>
              <a:t> </a:t>
            </a:r>
            <a:r>
              <a:rPr lang="pl-PL" dirty="0" err="1"/>
              <a:t>Cyclistic</a:t>
            </a:r>
            <a:r>
              <a:rPr lang="pl-PL" dirty="0"/>
              <a:t> </a:t>
            </a:r>
            <a:r>
              <a:rPr lang="pl-PL" b="1" dirty="0" err="1"/>
              <a:t>ride</a:t>
            </a:r>
            <a:r>
              <a:rPr lang="pl-PL" b="1" dirty="0"/>
              <a:t> </a:t>
            </a:r>
            <a:r>
              <a:rPr lang="pl-PL" b="1" dirty="0" err="1"/>
              <a:t>volume</a:t>
            </a:r>
            <a:r>
              <a:rPr lang="pl-PL" b="1" dirty="0"/>
              <a:t> by </a:t>
            </a:r>
            <a:r>
              <a:rPr lang="pl-PL" b="1" dirty="0" err="1"/>
              <a:t>time</a:t>
            </a:r>
            <a:r>
              <a:rPr lang="pl-PL" b="1" dirty="0"/>
              <a:t> of </a:t>
            </a:r>
            <a:r>
              <a:rPr lang="pl-PL" b="1" dirty="0" err="1"/>
              <a:t>day</a:t>
            </a:r>
            <a:r>
              <a:rPr lang="pl-PL" dirty="0"/>
              <a:t> for </a:t>
            </a:r>
            <a:r>
              <a:rPr lang="pl-PL" b="1" dirty="0" err="1"/>
              <a:t>members</a:t>
            </a:r>
            <a:r>
              <a:rPr lang="pl-PL" b="1" dirty="0"/>
              <a:t> and casual </a:t>
            </a:r>
            <a:r>
              <a:rPr lang="pl-PL" b="1" dirty="0" err="1"/>
              <a:t>riders</a:t>
            </a:r>
            <a:r>
              <a:rPr lang="pl-PL" dirty="0"/>
              <a:t>.</a:t>
            </a:r>
            <a:br>
              <a:rPr lang="pl-PL" dirty="0"/>
            </a:br>
            <a:r>
              <a:rPr lang="pl-PL" dirty="0"/>
              <a:t>Both </a:t>
            </a:r>
            <a:r>
              <a:rPr lang="pl-PL" dirty="0" err="1"/>
              <a:t>groups</a:t>
            </a:r>
            <a:r>
              <a:rPr lang="pl-PL" dirty="0"/>
              <a:t> </a:t>
            </a:r>
            <a:r>
              <a:rPr lang="pl-PL" dirty="0" err="1"/>
              <a:t>ride</a:t>
            </a:r>
            <a:r>
              <a:rPr lang="pl-PL" dirty="0"/>
              <a:t> most </a:t>
            </a:r>
            <a:r>
              <a:rPr lang="pl-PL" dirty="0" err="1"/>
              <a:t>often</a:t>
            </a:r>
            <a:r>
              <a:rPr lang="pl-PL" dirty="0"/>
              <a:t> </a:t>
            </a:r>
            <a:r>
              <a:rPr lang="pl-PL" dirty="0" err="1"/>
              <a:t>during</a:t>
            </a:r>
            <a:r>
              <a:rPr lang="pl-PL" dirty="0"/>
              <a:t> the </a:t>
            </a:r>
            <a:r>
              <a:rPr lang="pl-PL" b="1" dirty="0" err="1"/>
              <a:t>afternoon</a:t>
            </a:r>
            <a:r>
              <a:rPr lang="pl-PL" dirty="0"/>
              <a:t>, but </a:t>
            </a:r>
            <a:r>
              <a:rPr lang="pl-PL" b="1" dirty="0" err="1"/>
              <a:t>members</a:t>
            </a:r>
            <a:r>
              <a:rPr lang="pl-PL" dirty="0"/>
              <a:t> show </a:t>
            </a:r>
            <a:r>
              <a:rPr lang="pl-PL" dirty="0" err="1"/>
              <a:t>clear</a:t>
            </a:r>
            <a:r>
              <a:rPr lang="pl-PL" dirty="0"/>
              <a:t> </a:t>
            </a:r>
            <a:r>
              <a:rPr lang="pl-PL" b="1" dirty="0" err="1"/>
              <a:t>commuting</a:t>
            </a:r>
            <a:r>
              <a:rPr lang="pl-PL" b="1" dirty="0"/>
              <a:t> </a:t>
            </a:r>
            <a:r>
              <a:rPr lang="pl-PL" b="1" dirty="0" err="1"/>
              <a:t>peaks</a:t>
            </a:r>
            <a:r>
              <a:rPr lang="pl-PL" dirty="0"/>
              <a:t> in the </a:t>
            </a:r>
            <a:r>
              <a:rPr lang="pl-PL" b="1" dirty="0" err="1"/>
              <a:t>morning</a:t>
            </a:r>
            <a:r>
              <a:rPr lang="pl-PL" b="1" dirty="0"/>
              <a:t> and </a:t>
            </a:r>
            <a:r>
              <a:rPr lang="pl-PL" b="1" dirty="0" err="1"/>
              <a:t>evening</a:t>
            </a:r>
            <a:r>
              <a:rPr lang="pl-PL" dirty="0"/>
              <a:t>, </a:t>
            </a:r>
            <a:r>
              <a:rPr lang="pl-PL" dirty="0" err="1"/>
              <a:t>while</a:t>
            </a:r>
            <a:r>
              <a:rPr lang="pl-PL" dirty="0"/>
              <a:t> </a:t>
            </a:r>
            <a:r>
              <a:rPr lang="pl-PL" b="1" dirty="0"/>
              <a:t>casual </a:t>
            </a:r>
            <a:r>
              <a:rPr lang="pl-PL" b="1" dirty="0" err="1"/>
              <a:t>riders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dirty="0" err="1"/>
              <a:t>active</a:t>
            </a:r>
            <a:r>
              <a:rPr lang="pl-PL" dirty="0"/>
              <a:t> </a:t>
            </a:r>
            <a:r>
              <a:rPr lang="pl-PL" dirty="0" err="1"/>
              <a:t>during</a:t>
            </a:r>
            <a:r>
              <a:rPr lang="pl-PL" dirty="0"/>
              <a:t> </a:t>
            </a:r>
            <a:r>
              <a:rPr lang="pl-PL" b="1" dirty="0" err="1"/>
              <a:t>midday</a:t>
            </a:r>
            <a:r>
              <a:rPr lang="pl-PL" b="1" dirty="0"/>
              <a:t> </a:t>
            </a:r>
            <a:r>
              <a:rPr lang="pl-PL" dirty="0"/>
              <a:t>— </a:t>
            </a:r>
            <a:r>
              <a:rPr lang="pl-PL" dirty="0" err="1"/>
              <a:t>indicating</a:t>
            </a:r>
            <a:r>
              <a:rPr lang="pl-PL" dirty="0"/>
              <a:t> </a:t>
            </a:r>
            <a:r>
              <a:rPr lang="pl-PL" dirty="0" err="1"/>
              <a:t>leisure</a:t>
            </a:r>
            <a:r>
              <a:rPr lang="pl-PL" dirty="0"/>
              <a:t> </a:t>
            </a:r>
            <a:r>
              <a:rPr lang="pl-PL" dirty="0" err="1"/>
              <a:t>use</a:t>
            </a:r>
            <a:endParaRPr lang="pl-PL" dirty="0"/>
          </a:p>
          <a:p>
            <a:endParaRPr lang="pl-PL" dirty="0"/>
          </a:p>
          <a:p>
            <a:r>
              <a:rPr lang="pl-PL" b="1" dirty="0"/>
              <a:t>1. </a:t>
            </a:r>
            <a:r>
              <a:rPr lang="pl-PL" b="1" dirty="0" err="1"/>
              <a:t>Morning</a:t>
            </a:r>
            <a:r>
              <a:rPr lang="pl-PL" b="1" dirty="0"/>
              <a:t> &amp; </a:t>
            </a:r>
            <a:r>
              <a:rPr lang="pl-PL" b="1" dirty="0" err="1"/>
              <a:t>Evening</a:t>
            </a:r>
            <a:endParaRPr lang="pl-PL" b="1" dirty="0"/>
          </a:p>
          <a:p>
            <a:r>
              <a:rPr lang="pl-PL" b="1" dirty="0" err="1"/>
              <a:t>Members</a:t>
            </a:r>
            <a:r>
              <a:rPr lang="pl-PL" b="1" dirty="0"/>
              <a:t> show </a:t>
            </a:r>
            <a:r>
              <a:rPr lang="pl-PL" b="1" dirty="0" err="1"/>
              <a:t>strong</a:t>
            </a:r>
            <a:r>
              <a:rPr lang="pl-PL" b="1" dirty="0"/>
              <a:t> </a:t>
            </a:r>
            <a:r>
              <a:rPr lang="pl-PL" b="1" dirty="0" err="1"/>
              <a:t>peaks</a:t>
            </a:r>
            <a:r>
              <a:rPr lang="pl-PL" dirty="0"/>
              <a:t> in the </a:t>
            </a:r>
            <a:r>
              <a:rPr lang="pl-PL" b="1" dirty="0" err="1"/>
              <a:t>morning</a:t>
            </a:r>
            <a:r>
              <a:rPr lang="pl-PL" b="1" dirty="0"/>
              <a:t> (</a:t>
            </a:r>
            <a:r>
              <a:rPr lang="pl-PL" b="1" dirty="0" err="1"/>
              <a:t>commute</a:t>
            </a:r>
            <a:r>
              <a:rPr lang="pl-PL" b="1" dirty="0"/>
              <a:t> to </a:t>
            </a:r>
            <a:r>
              <a:rPr lang="pl-PL" b="1" dirty="0" err="1"/>
              <a:t>work</a:t>
            </a:r>
            <a:r>
              <a:rPr lang="pl-PL" b="1" dirty="0"/>
              <a:t>)</a:t>
            </a:r>
            <a:r>
              <a:rPr lang="pl-PL" dirty="0"/>
              <a:t> and </a:t>
            </a:r>
            <a:r>
              <a:rPr lang="pl-PL" b="1" dirty="0" err="1"/>
              <a:t>evening</a:t>
            </a:r>
            <a:r>
              <a:rPr lang="pl-PL" b="1" dirty="0"/>
              <a:t> (return </a:t>
            </a:r>
            <a:r>
              <a:rPr lang="pl-PL" b="1" dirty="0" err="1"/>
              <a:t>home</a:t>
            </a:r>
            <a:r>
              <a:rPr lang="pl-PL" b="1" dirty="0"/>
              <a:t>)</a:t>
            </a:r>
            <a:r>
              <a:rPr lang="pl-PL" dirty="0"/>
              <a:t>.</a:t>
            </a:r>
          </a:p>
          <a:p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pattern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consistent</a:t>
            </a:r>
            <a:r>
              <a:rPr lang="pl-PL" dirty="0"/>
              <a:t> with </a:t>
            </a:r>
            <a:r>
              <a:rPr lang="pl-PL" b="1" dirty="0" err="1"/>
              <a:t>weekday</a:t>
            </a:r>
            <a:r>
              <a:rPr lang="pl-PL" b="1" dirty="0"/>
              <a:t> </a:t>
            </a:r>
            <a:r>
              <a:rPr lang="pl-PL" b="1" dirty="0" err="1"/>
              <a:t>commuting</a:t>
            </a:r>
            <a:r>
              <a:rPr lang="pl-PL" b="1" dirty="0"/>
              <a:t> </a:t>
            </a:r>
            <a:r>
              <a:rPr lang="pl-PL" b="1" dirty="0" err="1"/>
              <a:t>behavior</a:t>
            </a:r>
            <a:r>
              <a:rPr lang="pl-PL" dirty="0"/>
              <a:t>.</a:t>
            </a:r>
          </a:p>
          <a:p>
            <a:r>
              <a:rPr lang="pl-PL" b="1" dirty="0"/>
              <a:t> 2. </a:t>
            </a:r>
            <a:r>
              <a:rPr lang="pl-PL" b="1" dirty="0" err="1"/>
              <a:t>Midday</a:t>
            </a:r>
            <a:endParaRPr lang="pl-PL" b="1" dirty="0"/>
          </a:p>
          <a:p>
            <a:r>
              <a:rPr lang="pl-PL" b="1" dirty="0"/>
              <a:t>Casual </a:t>
            </a:r>
            <a:r>
              <a:rPr lang="pl-PL" b="1" dirty="0" err="1"/>
              <a:t>riders</a:t>
            </a:r>
            <a:r>
              <a:rPr lang="pl-PL" b="1" dirty="0"/>
              <a:t> </a:t>
            </a:r>
            <a:r>
              <a:rPr lang="pl-PL" b="1" dirty="0" err="1"/>
              <a:t>dominate</a:t>
            </a:r>
            <a:r>
              <a:rPr lang="pl-PL" b="1" dirty="0"/>
              <a:t> </a:t>
            </a:r>
            <a:r>
              <a:rPr lang="pl-PL" b="1" dirty="0" err="1"/>
              <a:t>midday</a:t>
            </a:r>
            <a:r>
              <a:rPr lang="pl-PL" b="1" dirty="0"/>
              <a:t> </a:t>
            </a:r>
            <a:r>
              <a:rPr lang="pl-PL" b="1" dirty="0" err="1"/>
              <a:t>rides</a:t>
            </a:r>
            <a:r>
              <a:rPr lang="pl-PL" dirty="0"/>
              <a:t>, </a:t>
            </a:r>
            <a:r>
              <a:rPr lang="pl-PL" dirty="0" err="1"/>
              <a:t>especially</a:t>
            </a:r>
            <a:r>
              <a:rPr lang="pl-PL" dirty="0"/>
              <a:t> </a:t>
            </a:r>
            <a:r>
              <a:rPr lang="pl-PL" dirty="0" err="1"/>
              <a:t>around</a:t>
            </a:r>
            <a:r>
              <a:rPr lang="pl-PL" dirty="0"/>
              <a:t> </a:t>
            </a:r>
            <a:r>
              <a:rPr lang="pl-PL" dirty="0" err="1"/>
              <a:t>lunchtime</a:t>
            </a:r>
            <a:r>
              <a:rPr lang="pl-PL" dirty="0"/>
              <a:t> and </a:t>
            </a:r>
            <a:r>
              <a:rPr lang="pl-PL" dirty="0" err="1"/>
              <a:t>early</a:t>
            </a:r>
            <a:r>
              <a:rPr lang="pl-PL" dirty="0"/>
              <a:t> </a:t>
            </a:r>
            <a:r>
              <a:rPr lang="pl-PL" dirty="0" err="1"/>
              <a:t>afternoon</a:t>
            </a:r>
            <a:r>
              <a:rPr lang="pl-PL" dirty="0"/>
              <a:t>.</a:t>
            </a:r>
          </a:p>
          <a:p>
            <a:r>
              <a:rPr lang="pl-PL" dirty="0" err="1"/>
              <a:t>Suggests</a:t>
            </a:r>
            <a:r>
              <a:rPr lang="pl-PL" dirty="0"/>
              <a:t> </a:t>
            </a:r>
            <a:r>
              <a:rPr lang="pl-PL" b="1" dirty="0" err="1"/>
              <a:t>tourism</a:t>
            </a:r>
            <a:r>
              <a:rPr lang="pl-PL" b="1" dirty="0"/>
              <a:t>, </a:t>
            </a:r>
            <a:r>
              <a:rPr lang="pl-PL" b="1" dirty="0" err="1"/>
              <a:t>recreation</a:t>
            </a:r>
            <a:r>
              <a:rPr lang="pl-PL" b="1" dirty="0"/>
              <a:t>, </a:t>
            </a:r>
            <a:r>
              <a:rPr lang="pl-PL" b="1" dirty="0" err="1"/>
              <a:t>or</a:t>
            </a:r>
            <a:r>
              <a:rPr lang="pl-PL" b="1" dirty="0"/>
              <a:t> </a:t>
            </a:r>
            <a:r>
              <a:rPr lang="pl-PL" b="1" dirty="0" err="1"/>
              <a:t>flexible</a:t>
            </a:r>
            <a:r>
              <a:rPr lang="pl-PL" b="1" dirty="0"/>
              <a:t> </a:t>
            </a:r>
            <a:r>
              <a:rPr lang="pl-PL" b="1" dirty="0" err="1"/>
              <a:t>leisure</a:t>
            </a:r>
            <a:r>
              <a:rPr lang="pl-PL" b="1" dirty="0"/>
              <a:t> </a:t>
            </a:r>
            <a:r>
              <a:rPr lang="pl-PL" b="1" dirty="0" err="1"/>
              <a:t>activity</a:t>
            </a:r>
            <a:r>
              <a:rPr lang="pl-PL" dirty="0"/>
              <a:t>.</a:t>
            </a:r>
          </a:p>
          <a:p>
            <a:r>
              <a:rPr lang="pl-PL" b="1" dirty="0"/>
              <a:t>3. </a:t>
            </a:r>
            <a:r>
              <a:rPr lang="pl-PL" b="1" dirty="0" err="1"/>
              <a:t>Night</a:t>
            </a:r>
            <a:endParaRPr lang="pl-PL" b="1" dirty="0"/>
          </a:p>
          <a:p>
            <a:r>
              <a:rPr lang="pl-PL" dirty="0"/>
              <a:t>Both </a:t>
            </a:r>
            <a:r>
              <a:rPr lang="pl-PL" dirty="0" err="1"/>
              <a:t>groups</a:t>
            </a:r>
            <a:r>
              <a:rPr lang="pl-PL" dirty="0"/>
              <a:t> </a:t>
            </a:r>
            <a:r>
              <a:rPr lang="pl-PL" dirty="0" err="1"/>
              <a:t>have</a:t>
            </a:r>
            <a:r>
              <a:rPr lang="pl-PL" dirty="0"/>
              <a:t> </a:t>
            </a:r>
            <a:r>
              <a:rPr lang="pl-PL" b="1" dirty="0" err="1"/>
              <a:t>fewer</a:t>
            </a:r>
            <a:r>
              <a:rPr lang="pl-PL" b="1" dirty="0"/>
              <a:t> </a:t>
            </a:r>
            <a:r>
              <a:rPr lang="pl-PL" b="1" dirty="0" err="1"/>
              <a:t>rides</a:t>
            </a:r>
            <a:r>
              <a:rPr lang="pl-PL" b="1" dirty="0"/>
              <a:t> </a:t>
            </a:r>
            <a:r>
              <a:rPr lang="pl-PL" b="1" dirty="0" err="1"/>
              <a:t>at</a:t>
            </a:r>
            <a:r>
              <a:rPr lang="pl-PL" b="1" dirty="0"/>
              <a:t> </a:t>
            </a:r>
            <a:r>
              <a:rPr lang="pl-PL" b="1" dirty="0" err="1"/>
              <a:t>night</a:t>
            </a:r>
            <a:r>
              <a:rPr lang="pl-PL" dirty="0"/>
              <a:t>, but casual </a:t>
            </a:r>
            <a:r>
              <a:rPr lang="pl-PL" dirty="0" err="1"/>
              <a:t>users</a:t>
            </a:r>
            <a:r>
              <a:rPr lang="pl-PL" dirty="0"/>
              <a:t> </a:t>
            </a:r>
            <a:r>
              <a:rPr lang="pl-PL" dirty="0" err="1"/>
              <a:t>still</a:t>
            </a:r>
            <a:r>
              <a:rPr lang="pl-PL" dirty="0"/>
              <a:t> show </a:t>
            </a:r>
            <a:r>
              <a:rPr lang="pl-PL" dirty="0" err="1"/>
              <a:t>some</a:t>
            </a:r>
            <a:r>
              <a:rPr lang="pl-PL" dirty="0"/>
              <a:t> </a:t>
            </a:r>
            <a:r>
              <a:rPr lang="pl-PL" dirty="0" err="1"/>
              <a:t>late</a:t>
            </a:r>
            <a:r>
              <a:rPr lang="pl-PL" dirty="0"/>
              <a:t> </a:t>
            </a:r>
            <a:r>
              <a:rPr lang="pl-PL" dirty="0" err="1"/>
              <a:t>activity</a:t>
            </a:r>
            <a:r>
              <a:rPr lang="pl-PL" dirty="0"/>
              <a:t> — </a:t>
            </a:r>
            <a:r>
              <a:rPr lang="pl-PL" dirty="0" err="1"/>
              <a:t>likely</a:t>
            </a:r>
            <a:r>
              <a:rPr lang="pl-PL" dirty="0"/>
              <a:t> </a:t>
            </a:r>
            <a:r>
              <a:rPr lang="pl-PL" b="1" dirty="0" err="1"/>
              <a:t>social</a:t>
            </a:r>
            <a:r>
              <a:rPr lang="pl-PL" b="1" dirty="0"/>
              <a:t> </a:t>
            </a:r>
            <a:r>
              <a:rPr lang="pl-PL" b="1" dirty="0" err="1"/>
              <a:t>or</a:t>
            </a:r>
            <a:r>
              <a:rPr lang="pl-PL" b="1" dirty="0"/>
              <a:t> </a:t>
            </a:r>
            <a:r>
              <a:rPr lang="pl-PL" b="1" dirty="0" err="1"/>
              <a:t>leisure</a:t>
            </a:r>
            <a:r>
              <a:rPr lang="pl-PL" b="1" dirty="0"/>
              <a:t> </a:t>
            </a:r>
            <a:r>
              <a:rPr lang="pl-PL" b="1" dirty="0" err="1"/>
              <a:t>rides</a:t>
            </a:r>
            <a:r>
              <a:rPr lang="pl-PL" dirty="0"/>
              <a:t>.</a:t>
            </a:r>
          </a:p>
          <a:p>
            <a:r>
              <a:rPr lang="pl-PL" dirty="0"/>
              <a:t>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2122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31643-8488-87D0-818B-EC1DCBD2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AAADC59-CB8B-23F8-DECD-698C6FEB2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4588D2F-7BE6-CACD-A8E3-43AABD3DF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The chart </a:t>
            </a:r>
            <a:r>
              <a:rPr lang="pl-PL" dirty="0" err="1"/>
              <a:t>compares</a:t>
            </a:r>
            <a:r>
              <a:rPr lang="pl-PL" dirty="0"/>
              <a:t> </a:t>
            </a:r>
            <a:r>
              <a:rPr lang="pl-PL" dirty="0" err="1"/>
              <a:t>Cyclistic</a:t>
            </a:r>
            <a:r>
              <a:rPr lang="pl-PL" dirty="0"/>
              <a:t> </a:t>
            </a:r>
            <a:r>
              <a:rPr lang="pl-PL" b="1" dirty="0" err="1"/>
              <a:t>ride</a:t>
            </a:r>
            <a:r>
              <a:rPr lang="pl-PL" b="1" dirty="0"/>
              <a:t> </a:t>
            </a:r>
            <a:r>
              <a:rPr lang="pl-PL" b="1" dirty="0" err="1"/>
              <a:t>volume</a:t>
            </a:r>
            <a:r>
              <a:rPr lang="pl-PL" b="1" dirty="0"/>
              <a:t> by </a:t>
            </a:r>
            <a:r>
              <a:rPr lang="pl-PL" b="1" dirty="0" err="1"/>
              <a:t>time</a:t>
            </a:r>
            <a:r>
              <a:rPr lang="pl-PL" b="1" dirty="0"/>
              <a:t> of </a:t>
            </a:r>
            <a:r>
              <a:rPr lang="pl-PL" b="1" dirty="0" err="1"/>
              <a:t>day</a:t>
            </a:r>
            <a:r>
              <a:rPr lang="pl-PL" dirty="0"/>
              <a:t> for </a:t>
            </a:r>
            <a:r>
              <a:rPr lang="pl-PL" b="1" dirty="0" err="1"/>
              <a:t>members</a:t>
            </a:r>
            <a:r>
              <a:rPr lang="pl-PL" b="1" dirty="0"/>
              <a:t> and casual </a:t>
            </a:r>
            <a:r>
              <a:rPr lang="pl-PL" b="1" dirty="0" err="1"/>
              <a:t>riders</a:t>
            </a:r>
            <a:r>
              <a:rPr lang="pl-PL" dirty="0"/>
              <a:t>.</a:t>
            </a:r>
            <a:br>
              <a:rPr lang="pl-PL" dirty="0"/>
            </a:br>
            <a:r>
              <a:rPr lang="pl-PL" dirty="0"/>
              <a:t>Both </a:t>
            </a:r>
            <a:r>
              <a:rPr lang="pl-PL" dirty="0" err="1"/>
              <a:t>groups</a:t>
            </a:r>
            <a:r>
              <a:rPr lang="pl-PL" dirty="0"/>
              <a:t> </a:t>
            </a:r>
            <a:r>
              <a:rPr lang="pl-PL" dirty="0" err="1"/>
              <a:t>ride</a:t>
            </a:r>
            <a:r>
              <a:rPr lang="pl-PL" dirty="0"/>
              <a:t> most </a:t>
            </a:r>
            <a:r>
              <a:rPr lang="pl-PL" dirty="0" err="1"/>
              <a:t>often</a:t>
            </a:r>
            <a:r>
              <a:rPr lang="pl-PL" dirty="0"/>
              <a:t> </a:t>
            </a:r>
            <a:r>
              <a:rPr lang="pl-PL" dirty="0" err="1"/>
              <a:t>during</a:t>
            </a:r>
            <a:r>
              <a:rPr lang="pl-PL" dirty="0"/>
              <a:t> the </a:t>
            </a:r>
            <a:r>
              <a:rPr lang="pl-PL" b="1" dirty="0" err="1"/>
              <a:t>afternoon</a:t>
            </a:r>
            <a:r>
              <a:rPr lang="pl-PL" dirty="0"/>
              <a:t>, but </a:t>
            </a:r>
            <a:r>
              <a:rPr lang="pl-PL" b="1" dirty="0" err="1"/>
              <a:t>members</a:t>
            </a:r>
            <a:r>
              <a:rPr lang="pl-PL" dirty="0"/>
              <a:t> show </a:t>
            </a:r>
            <a:r>
              <a:rPr lang="pl-PL" dirty="0" err="1"/>
              <a:t>clear</a:t>
            </a:r>
            <a:r>
              <a:rPr lang="pl-PL" dirty="0"/>
              <a:t> </a:t>
            </a:r>
            <a:r>
              <a:rPr lang="pl-PL" b="1" dirty="0" err="1"/>
              <a:t>commuting</a:t>
            </a:r>
            <a:r>
              <a:rPr lang="pl-PL" b="1" dirty="0"/>
              <a:t> </a:t>
            </a:r>
            <a:r>
              <a:rPr lang="pl-PL" b="1" dirty="0" err="1"/>
              <a:t>peaks</a:t>
            </a:r>
            <a:r>
              <a:rPr lang="pl-PL" dirty="0"/>
              <a:t> in the </a:t>
            </a:r>
            <a:r>
              <a:rPr lang="pl-PL" b="1" dirty="0" err="1"/>
              <a:t>morning</a:t>
            </a:r>
            <a:r>
              <a:rPr lang="pl-PL" b="1" dirty="0"/>
              <a:t> and </a:t>
            </a:r>
            <a:r>
              <a:rPr lang="pl-PL" b="1" dirty="0" err="1"/>
              <a:t>evening</a:t>
            </a:r>
            <a:r>
              <a:rPr lang="pl-PL" dirty="0"/>
              <a:t>, </a:t>
            </a:r>
            <a:r>
              <a:rPr lang="pl-PL" dirty="0" err="1"/>
              <a:t>while</a:t>
            </a:r>
            <a:r>
              <a:rPr lang="pl-PL" dirty="0"/>
              <a:t> </a:t>
            </a:r>
            <a:r>
              <a:rPr lang="pl-PL" b="1" dirty="0"/>
              <a:t>casual </a:t>
            </a:r>
            <a:r>
              <a:rPr lang="pl-PL" b="1" dirty="0" err="1"/>
              <a:t>riders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dirty="0" err="1"/>
              <a:t>active</a:t>
            </a:r>
            <a:r>
              <a:rPr lang="pl-PL" dirty="0"/>
              <a:t> </a:t>
            </a:r>
            <a:r>
              <a:rPr lang="pl-PL" dirty="0" err="1"/>
              <a:t>during</a:t>
            </a:r>
            <a:r>
              <a:rPr lang="pl-PL" dirty="0"/>
              <a:t> </a:t>
            </a:r>
            <a:r>
              <a:rPr lang="pl-PL" b="1" dirty="0" err="1"/>
              <a:t>midday</a:t>
            </a:r>
            <a:r>
              <a:rPr lang="pl-PL" b="1" dirty="0"/>
              <a:t> </a:t>
            </a:r>
            <a:r>
              <a:rPr lang="pl-PL" dirty="0"/>
              <a:t>— </a:t>
            </a:r>
            <a:r>
              <a:rPr lang="pl-PL" dirty="0" err="1"/>
              <a:t>indicating</a:t>
            </a:r>
            <a:r>
              <a:rPr lang="pl-PL" dirty="0"/>
              <a:t> </a:t>
            </a:r>
            <a:r>
              <a:rPr lang="pl-PL" dirty="0" err="1"/>
              <a:t>leisure</a:t>
            </a:r>
            <a:r>
              <a:rPr lang="pl-PL" dirty="0"/>
              <a:t> </a:t>
            </a:r>
            <a:r>
              <a:rPr lang="pl-PL" dirty="0" err="1"/>
              <a:t>use</a:t>
            </a:r>
            <a:endParaRPr lang="pl-PL" dirty="0"/>
          </a:p>
          <a:p>
            <a:endParaRPr lang="pl-PL" dirty="0"/>
          </a:p>
          <a:p>
            <a:r>
              <a:rPr lang="pl-PL" b="1" dirty="0"/>
              <a:t>1. </a:t>
            </a:r>
            <a:r>
              <a:rPr lang="pl-PL" b="1" dirty="0" err="1"/>
              <a:t>Morning</a:t>
            </a:r>
            <a:r>
              <a:rPr lang="pl-PL" b="1" dirty="0"/>
              <a:t> &amp; </a:t>
            </a:r>
            <a:r>
              <a:rPr lang="pl-PL" b="1" dirty="0" err="1"/>
              <a:t>Evening</a:t>
            </a:r>
            <a:endParaRPr lang="pl-PL" b="1" dirty="0"/>
          </a:p>
          <a:p>
            <a:r>
              <a:rPr lang="pl-PL" b="1" dirty="0" err="1"/>
              <a:t>Members</a:t>
            </a:r>
            <a:r>
              <a:rPr lang="pl-PL" b="1" dirty="0"/>
              <a:t> show </a:t>
            </a:r>
            <a:r>
              <a:rPr lang="pl-PL" b="1" dirty="0" err="1"/>
              <a:t>strong</a:t>
            </a:r>
            <a:r>
              <a:rPr lang="pl-PL" b="1" dirty="0"/>
              <a:t> </a:t>
            </a:r>
            <a:r>
              <a:rPr lang="pl-PL" b="1" dirty="0" err="1"/>
              <a:t>peaks</a:t>
            </a:r>
            <a:r>
              <a:rPr lang="pl-PL" dirty="0"/>
              <a:t> in the </a:t>
            </a:r>
            <a:r>
              <a:rPr lang="pl-PL" b="1" dirty="0" err="1"/>
              <a:t>morning</a:t>
            </a:r>
            <a:r>
              <a:rPr lang="pl-PL" b="1" dirty="0"/>
              <a:t> (</a:t>
            </a:r>
            <a:r>
              <a:rPr lang="pl-PL" b="1" dirty="0" err="1"/>
              <a:t>commute</a:t>
            </a:r>
            <a:r>
              <a:rPr lang="pl-PL" b="1" dirty="0"/>
              <a:t> to </a:t>
            </a:r>
            <a:r>
              <a:rPr lang="pl-PL" b="1" dirty="0" err="1"/>
              <a:t>work</a:t>
            </a:r>
            <a:r>
              <a:rPr lang="pl-PL" b="1" dirty="0"/>
              <a:t>)</a:t>
            </a:r>
            <a:r>
              <a:rPr lang="pl-PL" dirty="0"/>
              <a:t> and </a:t>
            </a:r>
            <a:r>
              <a:rPr lang="pl-PL" b="1" dirty="0" err="1"/>
              <a:t>evening</a:t>
            </a:r>
            <a:r>
              <a:rPr lang="pl-PL" b="1" dirty="0"/>
              <a:t> (return </a:t>
            </a:r>
            <a:r>
              <a:rPr lang="pl-PL" b="1" dirty="0" err="1"/>
              <a:t>home</a:t>
            </a:r>
            <a:r>
              <a:rPr lang="pl-PL" b="1" dirty="0"/>
              <a:t>)</a:t>
            </a:r>
            <a:r>
              <a:rPr lang="pl-PL" dirty="0"/>
              <a:t>.</a:t>
            </a:r>
          </a:p>
          <a:p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pattern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consistent</a:t>
            </a:r>
            <a:r>
              <a:rPr lang="pl-PL" dirty="0"/>
              <a:t> with </a:t>
            </a:r>
            <a:r>
              <a:rPr lang="pl-PL" b="1" dirty="0" err="1"/>
              <a:t>weekday</a:t>
            </a:r>
            <a:r>
              <a:rPr lang="pl-PL" b="1" dirty="0"/>
              <a:t> </a:t>
            </a:r>
            <a:r>
              <a:rPr lang="pl-PL" b="1" dirty="0" err="1"/>
              <a:t>commuting</a:t>
            </a:r>
            <a:r>
              <a:rPr lang="pl-PL" b="1" dirty="0"/>
              <a:t> </a:t>
            </a:r>
            <a:r>
              <a:rPr lang="pl-PL" b="1" dirty="0" err="1"/>
              <a:t>behavior</a:t>
            </a:r>
            <a:r>
              <a:rPr lang="pl-PL" dirty="0"/>
              <a:t>.</a:t>
            </a:r>
          </a:p>
          <a:p>
            <a:r>
              <a:rPr lang="pl-PL" b="1" dirty="0"/>
              <a:t> 2. </a:t>
            </a:r>
            <a:r>
              <a:rPr lang="pl-PL" b="1" dirty="0" err="1"/>
              <a:t>Midday</a:t>
            </a:r>
            <a:endParaRPr lang="pl-PL" b="1" dirty="0"/>
          </a:p>
          <a:p>
            <a:r>
              <a:rPr lang="pl-PL" b="1" dirty="0"/>
              <a:t>Casual </a:t>
            </a:r>
            <a:r>
              <a:rPr lang="pl-PL" b="1" dirty="0" err="1"/>
              <a:t>riders</a:t>
            </a:r>
            <a:r>
              <a:rPr lang="pl-PL" b="1" dirty="0"/>
              <a:t> </a:t>
            </a:r>
            <a:r>
              <a:rPr lang="pl-PL" b="1" dirty="0" err="1"/>
              <a:t>dominate</a:t>
            </a:r>
            <a:r>
              <a:rPr lang="pl-PL" b="1" dirty="0"/>
              <a:t> </a:t>
            </a:r>
            <a:r>
              <a:rPr lang="pl-PL" b="1" dirty="0" err="1"/>
              <a:t>midday</a:t>
            </a:r>
            <a:r>
              <a:rPr lang="pl-PL" b="1" dirty="0"/>
              <a:t> </a:t>
            </a:r>
            <a:r>
              <a:rPr lang="pl-PL" b="1" dirty="0" err="1"/>
              <a:t>rides</a:t>
            </a:r>
            <a:r>
              <a:rPr lang="pl-PL" dirty="0"/>
              <a:t>, </a:t>
            </a:r>
            <a:r>
              <a:rPr lang="pl-PL" dirty="0" err="1"/>
              <a:t>especially</a:t>
            </a:r>
            <a:r>
              <a:rPr lang="pl-PL" dirty="0"/>
              <a:t> </a:t>
            </a:r>
            <a:r>
              <a:rPr lang="pl-PL" dirty="0" err="1"/>
              <a:t>around</a:t>
            </a:r>
            <a:r>
              <a:rPr lang="pl-PL" dirty="0"/>
              <a:t> </a:t>
            </a:r>
            <a:r>
              <a:rPr lang="pl-PL" dirty="0" err="1"/>
              <a:t>lunchtime</a:t>
            </a:r>
            <a:r>
              <a:rPr lang="pl-PL" dirty="0"/>
              <a:t> and </a:t>
            </a:r>
            <a:r>
              <a:rPr lang="pl-PL" dirty="0" err="1"/>
              <a:t>early</a:t>
            </a:r>
            <a:r>
              <a:rPr lang="pl-PL" dirty="0"/>
              <a:t> </a:t>
            </a:r>
            <a:r>
              <a:rPr lang="pl-PL" dirty="0" err="1"/>
              <a:t>afternoon</a:t>
            </a:r>
            <a:r>
              <a:rPr lang="pl-PL" dirty="0"/>
              <a:t>.</a:t>
            </a:r>
          </a:p>
          <a:p>
            <a:r>
              <a:rPr lang="pl-PL" dirty="0" err="1"/>
              <a:t>Suggests</a:t>
            </a:r>
            <a:r>
              <a:rPr lang="pl-PL" dirty="0"/>
              <a:t> </a:t>
            </a:r>
            <a:r>
              <a:rPr lang="pl-PL" b="1" dirty="0" err="1"/>
              <a:t>tourism</a:t>
            </a:r>
            <a:r>
              <a:rPr lang="pl-PL" b="1" dirty="0"/>
              <a:t>, </a:t>
            </a:r>
            <a:r>
              <a:rPr lang="pl-PL" b="1" dirty="0" err="1"/>
              <a:t>recreation</a:t>
            </a:r>
            <a:r>
              <a:rPr lang="pl-PL" b="1" dirty="0"/>
              <a:t>, </a:t>
            </a:r>
            <a:r>
              <a:rPr lang="pl-PL" b="1" dirty="0" err="1"/>
              <a:t>or</a:t>
            </a:r>
            <a:r>
              <a:rPr lang="pl-PL" b="1" dirty="0"/>
              <a:t> </a:t>
            </a:r>
            <a:r>
              <a:rPr lang="pl-PL" b="1" dirty="0" err="1"/>
              <a:t>flexible</a:t>
            </a:r>
            <a:r>
              <a:rPr lang="pl-PL" b="1" dirty="0"/>
              <a:t> </a:t>
            </a:r>
            <a:r>
              <a:rPr lang="pl-PL" b="1" dirty="0" err="1"/>
              <a:t>leisure</a:t>
            </a:r>
            <a:r>
              <a:rPr lang="pl-PL" b="1" dirty="0"/>
              <a:t> </a:t>
            </a:r>
            <a:r>
              <a:rPr lang="pl-PL" b="1" dirty="0" err="1"/>
              <a:t>activity</a:t>
            </a:r>
            <a:r>
              <a:rPr lang="pl-PL" dirty="0"/>
              <a:t>.</a:t>
            </a:r>
          </a:p>
          <a:p>
            <a:r>
              <a:rPr lang="pl-PL" b="1" dirty="0"/>
              <a:t>3. </a:t>
            </a:r>
            <a:r>
              <a:rPr lang="pl-PL" b="1" dirty="0" err="1"/>
              <a:t>Night</a:t>
            </a:r>
            <a:endParaRPr lang="pl-PL" b="1" dirty="0"/>
          </a:p>
          <a:p>
            <a:r>
              <a:rPr lang="pl-PL" dirty="0"/>
              <a:t>Both </a:t>
            </a:r>
            <a:r>
              <a:rPr lang="pl-PL" dirty="0" err="1"/>
              <a:t>groups</a:t>
            </a:r>
            <a:r>
              <a:rPr lang="pl-PL" dirty="0"/>
              <a:t> </a:t>
            </a:r>
            <a:r>
              <a:rPr lang="pl-PL" dirty="0" err="1"/>
              <a:t>have</a:t>
            </a:r>
            <a:r>
              <a:rPr lang="pl-PL" dirty="0"/>
              <a:t> </a:t>
            </a:r>
            <a:r>
              <a:rPr lang="pl-PL" b="1" dirty="0" err="1"/>
              <a:t>fewer</a:t>
            </a:r>
            <a:r>
              <a:rPr lang="pl-PL" b="1" dirty="0"/>
              <a:t> </a:t>
            </a:r>
            <a:r>
              <a:rPr lang="pl-PL" b="1" dirty="0" err="1"/>
              <a:t>rides</a:t>
            </a:r>
            <a:r>
              <a:rPr lang="pl-PL" b="1" dirty="0"/>
              <a:t> </a:t>
            </a:r>
            <a:r>
              <a:rPr lang="pl-PL" b="1" dirty="0" err="1"/>
              <a:t>at</a:t>
            </a:r>
            <a:r>
              <a:rPr lang="pl-PL" b="1" dirty="0"/>
              <a:t> </a:t>
            </a:r>
            <a:r>
              <a:rPr lang="pl-PL" b="1" dirty="0" err="1"/>
              <a:t>night</a:t>
            </a:r>
            <a:r>
              <a:rPr lang="pl-PL" dirty="0"/>
              <a:t>, but casual </a:t>
            </a:r>
            <a:r>
              <a:rPr lang="pl-PL" dirty="0" err="1"/>
              <a:t>users</a:t>
            </a:r>
            <a:r>
              <a:rPr lang="pl-PL" dirty="0"/>
              <a:t> </a:t>
            </a:r>
            <a:r>
              <a:rPr lang="pl-PL" dirty="0" err="1"/>
              <a:t>still</a:t>
            </a:r>
            <a:r>
              <a:rPr lang="pl-PL" dirty="0"/>
              <a:t> show </a:t>
            </a:r>
            <a:r>
              <a:rPr lang="pl-PL" dirty="0" err="1"/>
              <a:t>some</a:t>
            </a:r>
            <a:r>
              <a:rPr lang="pl-PL" dirty="0"/>
              <a:t> </a:t>
            </a:r>
            <a:r>
              <a:rPr lang="pl-PL" dirty="0" err="1"/>
              <a:t>late</a:t>
            </a:r>
            <a:r>
              <a:rPr lang="pl-PL" dirty="0"/>
              <a:t> </a:t>
            </a:r>
            <a:r>
              <a:rPr lang="pl-PL" dirty="0" err="1"/>
              <a:t>activity</a:t>
            </a:r>
            <a:r>
              <a:rPr lang="pl-PL" dirty="0"/>
              <a:t> — </a:t>
            </a:r>
            <a:r>
              <a:rPr lang="pl-PL" dirty="0" err="1"/>
              <a:t>likely</a:t>
            </a:r>
            <a:r>
              <a:rPr lang="pl-PL" dirty="0"/>
              <a:t> </a:t>
            </a:r>
            <a:r>
              <a:rPr lang="pl-PL" b="1" dirty="0" err="1"/>
              <a:t>social</a:t>
            </a:r>
            <a:r>
              <a:rPr lang="pl-PL" b="1" dirty="0"/>
              <a:t> </a:t>
            </a:r>
            <a:r>
              <a:rPr lang="pl-PL" b="1" dirty="0" err="1"/>
              <a:t>or</a:t>
            </a:r>
            <a:r>
              <a:rPr lang="pl-PL" b="1" dirty="0"/>
              <a:t> </a:t>
            </a:r>
            <a:r>
              <a:rPr lang="pl-PL" b="1" dirty="0" err="1"/>
              <a:t>leisure</a:t>
            </a:r>
            <a:r>
              <a:rPr lang="pl-PL" b="1" dirty="0"/>
              <a:t> </a:t>
            </a:r>
            <a:r>
              <a:rPr lang="pl-PL" b="1" dirty="0" err="1"/>
              <a:t>rides</a:t>
            </a:r>
            <a:r>
              <a:rPr lang="pl-PL" dirty="0"/>
              <a:t>.</a:t>
            </a:r>
          </a:p>
          <a:p>
            <a:r>
              <a:rPr lang="pl-PL" dirty="0"/>
              <a:t>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6DBF34C-C9D4-7252-9E4A-F09B080F1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30921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stacked</a:t>
            </a:r>
            <a:r>
              <a:rPr lang="pl-PL" dirty="0"/>
              <a:t> bar chart </a:t>
            </a:r>
            <a:r>
              <a:rPr lang="pl-PL" dirty="0" err="1"/>
              <a:t>compares</a:t>
            </a:r>
            <a:r>
              <a:rPr lang="pl-PL" dirty="0"/>
              <a:t> the </a:t>
            </a:r>
            <a:r>
              <a:rPr lang="pl-PL" b="1" dirty="0" err="1"/>
              <a:t>bike</a:t>
            </a:r>
            <a:r>
              <a:rPr lang="pl-PL" b="1" dirty="0"/>
              <a:t> </a:t>
            </a:r>
            <a:r>
              <a:rPr lang="pl-PL" b="1" dirty="0" err="1"/>
              <a:t>type</a:t>
            </a:r>
            <a:r>
              <a:rPr lang="pl-PL" b="1" dirty="0"/>
              <a:t> </a:t>
            </a:r>
            <a:r>
              <a:rPr lang="pl-PL" b="1" dirty="0" err="1"/>
              <a:t>preferences</a:t>
            </a:r>
            <a:r>
              <a:rPr lang="pl-PL" dirty="0"/>
              <a:t> of </a:t>
            </a:r>
            <a:r>
              <a:rPr lang="pl-PL" dirty="0" err="1"/>
              <a:t>Cyclistic</a:t>
            </a:r>
            <a:r>
              <a:rPr lang="pl-PL" dirty="0"/>
              <a:t> </a:t>
            </a:r>
            <a:r>
              <a:rPr lang="pl-PL" b="1" dirty="0" err="1"/>
              <a:t>members</a:t>
            </a:r>
            <a:r>
              <a:rPr lang="pl-PL" dirty="0"/>
              <a:t> and </a:t>
            </a:r>
            <a:r>
              <a:rPr lang="pl-PL" b="1" dirty="0"/>
              <a:t>casual </a:t>
            </a:r>
            <a:r>
              <a:rPr lang="pl-PL" b="1" dirty="0" err="1"/>
              <a:t>riders</a:t>
            </a:r>
            <a:r>
              <a:rPr lang="pl-PL" dirty="0"/>
              <a:t>.</a:t>
            </a:r>
            <a:br>
              <a:rPr lang="pl-PL" dirty="0"/>
            </a:br>
            <a:r>
              <a:rPr lang="pl-PL" dirty="0"/>
              <a:t>Both </a:t>
            </a:r>
            <a:r>
              <a:rPr lang="pl-PL" dirty="0" err="1"/>
              <a:t>groups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a mix of </a:t>
            </a:r>
            <a:r>
              <a:rPr lang="pl-PL" b="1" dirty="0" err="1"/>
              <a:t>classic</a:t>
            </a:r>
            <a:r>
              <a:rPr lang="pl-PL" dirty="0"/>
              <a:t> and </a:t>
            </a:r>
            <a:r>
              <a:rPr lang="pl-PL" b="1" dirty="0" err="1"/>
              <a:t>electric</a:t>
            </a:r>
            <a:r>
              <a:rPr lang="pl-PL" b="1" dirty="0"/>
              <a:t> </a:t>
            </a:r>
            <a:r>
              <a:rPr lang="pl-PL" b="1" dirty="0" err="1"/>
              <a:t>bikes</a:t>
            </a:r>
            <a:r>
              <a:rPr lang="pl-PL" dirty="0"/>
              <a:t>, but </a:t>
            </a:r>
            <a:r>
              <a:rPr lang="pl-PL" b="1" dirty="0"/>
              <a:t>casual </a:t>
            </a:r>
            <a:r>
              <a:rPr lang="pl-PL" b="1" dirty="0" err="1"/>
              <a:t>riders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slightly</a:t>
            </a:r>
            <a:r>
              <a:rPr lang="pl-PL" dirty="0"/>
              <a:t>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b="1" dirty="0" err="1"/>
              <a:t>electric</a:t>
            </a:r>
            <a:r>
              <a:rPr lang="pl-PL" b="1" dirty="0"/>
              <a:t> </a:t>
            </a:r>
            <a:r>
              <a:rPr lang="pl-PL" b="1" dirty="0" err="1"/>
              <a:t>bikes</a:t>
            </a:r>
            <a:r>
              <a:rPr lang="pl-PL" dirty="0"/>
              <a:t>, </a:t>
            </a:r>
            <a:r>
              <a:rPr lang="pl-PL" dirty="0" err="1"/>
              <a:t>while</a:t>
            </a:r>
            <a:r>
              <a:rPr lang="pl-PL" dirty="0"/>
              <a:t> </a:t>
            </a:r>
            <a:r>
              <a:rPr lang="pl-PL" b="1" dirty="0" err="1"/>
              <a:t>members</a:t>
            </a:r>
            <a:r>
              <a:rPr lang="pl-PL" dirty="0"/>
              <a:t> </a:t>
            </a:r>
            <a:r>
              <a:rPr lang="pl-PL" dirty="0" err="1"/>
              <a:t>favor</a:t>
            </a:r>
            <a:r>
              <a:rPr lang="pl-PL" dirty="0"/>
              <a:t> </a:t>
            </a:r>
            <a:r>
              <a:rPr lang="pl-PL" b="1" dirty="0" err="1"/>
              <a:t>classic</a:t>
            </a:r>
            <a:r>
              <a:rPr lang="pl-PL" b="1" dirty="0"/>
              <a:t> </a:t>
            </a:r>
            <a:r>
              <a:rPr lang="pl-PL" b="1" dirty="0" err="1"/>
              <a:t>bikes</a:t>
            </a:r>
            <a:r>
              <a:rPr lang="pl-PL" dirty="0"/>
              <a:t> for </a:t>
            </a:r>
            <a:r>
              <a:rPr lang="pl-PL" dirty="0" err="1"/>
              <a:t>their</a:t>
            </a:r>
            <a:r>
              <a:rPr lang="pl-PL" dirty="0"/>
              <a:t> </a:t>
            </a:r>
            <a:r>
              <a:rPr lang="pl-PL" dirty="0" err="1"/>
              <a:t>regular</a:t>
            </a:r>
            <a:r>
              <a:rPr lang="pl-PL" dirty="0"/>
              <a:t> </a:t>
            </a:r>
            <a:r>
              <a:rPr lang="pl-PL" dirty="0" err="1"/>
              <a:t>commutes</a:t>
            </a:r>
            <a:r>
              <a:rPr lang="pl-PL" dirty="0"/>
              <a:t>.</a:t>
            </a:r>
            <a:br>
              <a:rPr lang="pl-PL" dirty="0"/>
            </a:br>
            <a:r>
              <a:rPr lang="pl-PL" b="1" dirty="0" err="1"/>
              <a:t>Scooter</a:t>
            </a:r>
            <a:r>
              <a:rPr lang="pl-PL" b="1" dirty="0"/>
              <a:t> </a:t>
            </a:r>
            <a:r>
              <a:rPr lang="pl-PL" b="1" dirty="0" err="1"/>
              <a:t>usage</a:t>
            </a:r>
            <a:r>
              <a:rPr lang="pl-PL" dirty="0"/>
              <a:t> </a:t>
            </a:r>
            <a:r>
              <a:rPr lang="pl-PL" dirty="0" err="1"/>
              <a:t>remains</a:t>
            </a:r>
            <a:r>
              <a:rPr lang="pl-PL" dirty="0"/>
              <a:t> </a:t>
            </a:r>
            <a:r>
              <a:rPr lang="pl-PL" dirty="0" err="1"/>
              <a:t>very</a:t>
            </a:r>
            <a:r>
              <a:rPr lang="pl-PL" dirty="0"/>
              <a:t> </a:t>
            </a:r>
            <a:r>
              <a:rPr lang="pl-PL" dirty="0" err="1"/>
              <a:t>low</a:t>
            </a:r>
            <a:r>
              <a:rPr lang="pl-PL" dirty="0"/>
              <a:t> </a:t>
            </a:r>
            <a:r>
              <a:rPr lang="pl-PL" dirty="0" err="1"/>
              <a:t>across</a:t>
            </a:r>
            <a:r>
              <a:rPr lang="pl-PL" dirty="0"/>
              <a:t> </a:t>
            </a:r>
            <a:r>
              <a:rPr lang="pl-PL" dirty="0" err="1"/>
              <a:t>both</a:t>
            </a:r>
            <a:r>
              <a:rPr lang="pl-PL" dirty="0"/>
              <a:t> </a:t>
            </a:r>
            <a:r>
              <a:rPr lang="pl-PL" dirty="0" err="1"/>
              <a:t>groups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b="1" dirty="0"/>
              <a:t>1. Classic </a:t>
            </a:r>
            <a:r>
              <a:rPr lang="pl-PL" b="1" dirty="0" err="1"/>
              <a:t>Bikes</a:t>
            </a:r>
            <a:endParaRPr lang="pl-PL" b="1" dirty="0"/>
          </a:p>
          <a:p>
            <a:r>
              <a:rPr lang="pl-PL" b="1" dirty="0"/>
              <a:t>Most </a:t>
            </a:r>
            <a:r>
              <a:rPr lang="pl-PL" b="1" dirty="0" err="1"/>
              <a:t>common</a:t>
            </a:r>
            <a:r>
              <a:rPr lang="pl-PL" b="1" dirty="0"/>
              <a:t> </a:t>
            </a:r>
            <a:r>
              <a:rPr lang="pl-PL" b="1" dirty="0" err="1"/>
              <a:t>bike</a:t>
            </a:r>
            <a:r>
              <a:rPr lang="pl-PL" b="1" dirty="0"/>
              <a:t> </a:t>
            </a:r>
            <a:r>
              <a:rPr lang="pl-PL" b="1" dirty="0" err="1"/>
              <a:t>type</a:t>
            </a:r>
            <a:r>
              <a:rPr lang="pl-PL" dirty="0"/>
              <a:t> for </a:t>
            </a:r>
            <a:r>
              <a:rPr lang="pl-PL" dirty="0" err="1"/>
              <a:t>both</a:t>
            </a:r>
            <a:r>
              <a:rPr lang="pl-PL" dirty="0"/>
              <a:t> </a:t>
            </a:r>
            <a:r>
              <a:rPr lang="pl-PL" dirty="0" err="1"/>
              <a:t>groups</a:t>
            </a:r>
            <a:r>
              <a:rPr lang="pl-PL" dirty="0"/>
              <a:t>.</a:t>
            </a:r>
          </a:p>
          <a:p>
            <a:r>
              <a:rPr lang="pl-PL" dirty="0" err="1"/>
              <a:t>Members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classic</a:t>
            </a:r>
            <a:r>
              <a:rPr lang="pl-PL" dirty="0"/>
              <a:t> </a:t>
            </a:r>
            <a:r>
              <a:rPr lang="pl-PL" dirty="0" err="1"/>
              <a:t>bikes</a:t>
            </a:r>
            <a:r>
              <a:rPr lang="pl-PL" dirty="0"/>
              <a:t> </a:t>
            </a:r>
            <a:r>
              <a:rPr lang="pl-PL" b="1" dirty="0" err="1"/>
              <a:t>slightly</a:t>
            </a:r>
            <a:r>
              <a:rPr lang="pl-PL" b="1" dirty="0"/>
              <a:t> </a:t>
            </a:r>
            <a:r>
              <a:rPr lang="pl-PL" b="1" dirty="0" err="1"/>
              <a:t>more</a:t>
            </a:r>
            <a:r>
              <a:rPr lang="pl-PL" b="1" dirty="0"/>
              <a:t> </a:t>
            </a:r>
            <a:r>
              <a:rPr lang="pl-PL" b="1" dirty="0" err="1"/>
              <a:t>often</a:t>
            </a:r>
            <a:r>
              <a:rPr lang="pl-PL" dirty="0"/>
              <a:t>, </a:t>
            </a:r>
            <a:r>
              <a:rPr lang="pl-PL" dirty="0" err="1"/>
              <a:t>reflecting</a:t>
            </a:r>
            <a:r>
              <a:rPr lang="pl-PL" dirty="0"/>
              <a:t> </a:t>
            </a:r>
            <a:r>
              <a:rPr lang="pl-PL" b="1" dirty="0" err="1"/>
              <a:t>routine</a:t>
            </a:r>
            <a:r>
              <a:rPr lang="pl-PL" b="1" dirty="0"/>
              <a:t> </a:t>
            </a:r>
            <a:r>
              <a:rPr lang="pl-PL" b="1" dirty="0" err="1"/>
              <a:t>commuting</a:t>
            </a:r>
            <a:r>
              <a:rPr lang="pl-PL" dirty="0"/>
              <a:t> and </a:t>
            </a:r>
            <a:r>
              <a:rPr lang="pl-PL" dirty="0" err="1"/>
              <a:t>cost-conscious</a:t>
            </a:r>
            <a:r>
              <a:rPr lang="pl-PL" dirty="0"/>
              <a:t> </a:t>
            </a:r>
            <a:r>
              <a:rPr lang="pl-PL" dirty="0" err="1"/>
              <a:t>behavior</a:t>
            </a:r>
            <a:r>
              <a:rPr lang="pl-PL" dirty="0"/>
              <a:t>.</a:t>
            </a:r>
          </a:p>
          <a:p>
            <a:r>
              <a:rPr lang="pl-PL" b="1" dirty="0"/>
              <a:t>2. </a:t>
            </a:r>
            <a:r>
              <a:rPr lang="pl-PL" b="1" dirty="0" err="1"/>
              <a:t>Electric</a:t>
            </a:r>
            <a:r>
              <a:rPr lang="pl-PL" b="1" dirty="0"/>
              <a:t> </a:t>
            </a:r>
            <a:r>
              <a:rPr lang="pl-PL" b="1" dirty="0" err="1"/>
              <a:t>Bikes</a:t>
            </a:r>
            <a:endParaRPr lang="pl-PL" b="1" dirty="0"/>
          </a:p>
          <a:p>
            <a:r>
              <a:rPr lang="pl-PL" b="1" dirty="0"/>
              <a:t>Casual </a:t>
            </a:r>
            <a:r>
              <a:rPr lang="pl-PL" b="1" dirty="0" err="1"/>
              <a:t>riders</a:t>
            </a:r>
            <a:r>
              <a:rPr lang="pl-PL" b="1" dirty="0"/>
              <a:t> </a:t>
            </a:r>
            <a:r>
              <a:rPr lang="pl-PL" b="1" dirty="0" err="1"/>
              <a:t>rely</a:t>
            </a:r>
            <a:r>
              <a:rPr lang="pl-PL" b="1" dirty="0"/>
              <a:t> </a:t>
            </a:r>
            <a:r>
              <a:rPr lang="pl-PL" b="1" dirty="0" err="1"/>
              <a:t>more</a:t>
            </a:r>
            <a:r>
              <a:rPr lang="pl-PL" b="1" dirty="0"/>
              <a:t> on </a:t>
            </a:r>
            <a:r>
              <a:rPr lang="pl-PL" b="1" dirty="0" err="1"/>
              <a:t>electric</a:t>
            </a:r>
            <a:r>
              <a:rPr lang="pl-PL" b="1" dirty="0"/>
              <a:t> </a:t>
            </a:r>
            <a:r>
              <a:rPr lang="pl-PL" b="1" dirty="0" err="1"/>
              <a:t>bikes</a:t>
            </a:r>
            <a:r>
              <a:rPr lang="pl-PL" dirty="0"/>
              <a:t>, </a:t>
            </a:r>
            <a:r>
              <a:rPr lang="pl-PL" dirty="0" err="1"/>
              <a:t>likely</a:t>
            </a:r>
            <a:r>
              <a:rPr lang="pl-PL" dirty="0"/>
              <a:t> for </a:t>
            </a:r>
            <a:r>
              <a:rPr lang="pl-PL" b="1" dirty="0" err="1"/>
              <a:t>comfort</a:t>
            </a:r>
            <a:r>
              <a:rPr lang="pl-PL" b="1" dirty="0"/>
              <a:t> and </a:t>
            </a:r>
            <a:r>
              <a:rPr lang="pl-PL" b="1" dirty="0" err="1"/>
              <a:t>convenience</a:t>
            </a:r>
            <a:r>
              <a:rPr lang="pl-PL" dirty="0"/>
              <a:t> on </a:t>
            </a:r>
            <a:r>
              <a:rPr lang="pl-PL" dirty="0" err="1"/>
              <a:t>longer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dirty="0" err="1"/>
              <a:t>leisure</a:t>
            </a:r>
            <a:r>
              <a:rPr lang="pl-PL" dirty="0"/>
              <a:t> </a:t>
            </a:r>
            <a:r>
              <a:rPr lang="pl-PL" dirty="0" err="1"/>
              <a:t>rides</a:t>
            </a:r>
            <a:r>
              <a:rPr lang="pl-PL" dirty="0"/>
              <a:t>.</a:t>
            </a:r>
          </a:p>
          <a:p>
            <a:r>
              <a:rPr lang="pl-PL" dirty="0" err="1"/>
              <a:t>Electric</a:t>
            </a:r>
            <a:r>
              <a:rPr lang="pl-PL" dirty="0"/>
              <a:t> </a:t>
            </a:r>
            <a:r>
              <a:rPr lang="pl-PL" dirty="0" err="1"/>
              <a:t>bikes</a:t>
            </a:r>
            <a:r>
              <a:rPr lang="pl-PL" dirty="0"/>
              <a:t> </a:t>
            </a:r>
            <a:r>
              <a:rPr lang="pl-PL" dirty="0" err="1"/>
              <a:t>make</a:t>
            </a:r>
            <a:r>
              <a:rPr lang="pl-PL" dirty="0"/>
              <a:t> </a:t>
            </a:r>
            <a:r>
              <a:rPr lang="pl-PL" dirty="0" err="1"/>
              <a:t>up</a:t>
            </a:r>
            <a:r>
              <a:rPr lang="pl-PL" dirty="0"/>
              <a:t> a </a:t>
            </a:r>
            <a:r>
              <a:rPr lang="pl-PL" b="1" dirty="0" err="1"/>
              <a:t>larger</a:t>
            </a:r>
            <a:r>
              <a:rPr lang="pl-PL" b="1" dirty="0"/>
              <a:t> </a:t>
            </a:r>
            <a:r>
              <a:rPr lang="pl-PL" b="1" dirty="0" err="1"/>
              <a:t>percentage</a:t>
            </a:r>
            <a:r>
              <a:rPr lang="pl-PL" b="1" dirty="0"/>
              <a:t> of casual </a:t>
            </a:r>
            <a:r>
              <a:rPr lang="pl-PL" b="1" dirty="0" err="1"/>
              <a:t>rides</a:t>
            </a:r>
            <a:r>
              <a:rPr lang="pl-PL" dirty="0"/>
              <a:t> </a:t>
            </a:r>
            <a:r>
              <a:rPr lang="pl-PL" dirty="0" err="1"/>
              <a:t>than</a:t>
            </a:r>
            <a:r>
              <a:rPr lang="pl-PL" dirty="0"/>
              <a:t> </a:t>
            </a:r>
            <a:r>
              <a:rPr lang="pl-PL" dirty="0" err="1"/>
              <a:t>member</a:t>
            </a:r>
            <a:r>
              <a:rPr lang="pl-PL" dirty="0"/>
              <a:t> </a:t>
            </a:r>
            <a:r>
              <a:rPr lang="pl-PL" dirty="0" err="1"/>
              <a:t>rides</a:t>
            </a:r>
            <a:r>
              <a:rPr lang="pl-PL" dirty="0"/>
              <a:t>.</a:t>
            </a:r>
          </a:p>
          <a:p>
            <a:r>
              <a:rPr lang="pl-PL" b="1" dirty="0"/>
              <a:t> 3. </a:t>
            </a:r>
            <a:r>
              <a:rPr lang="pl-PL" b="1" dirty="0" err="1"/>
              <a:t>Electric</a:t>
            </a:r>
            <a:r>
              <a:rPr lang="pl-PL" b="1" dirty="0"/>
              <a:t> </a:t>
            </a:r>
            <a:r>
              <a:rPr lang="pl-PL" b="1" dirty="0" err="1"/>
              <a:t>Scooters</a:t>
            </a:r>
            <a:endParaRPr lang="pl-PL" b="1" dirty="0"/>
          </a:p>
          <a:p>
            <a:r>
              <a:rPr lang="pl-PL" b="1" dirty="0" err="1"/>
              <a:t>Minimal</a:t>
            </a:r>
            <a:r>
              <a:rPr lang="pl-PL" b="1" dirty="0"/>
              <a:t> </a:t>
            </a:r>
            <a:r>
              <a:rPr lang="pl-PL" b="1" dirty="0" err="1"/>
              <a:t>share</a:t>
            </a:r>
            <a:r>
              <a:rPr lang="pl-PL" dirty="0"/>
              <a:t> for </a:t>
            </a:r>
            <a:r>
              <a:rPr lang="pl-PL" dirty="0" err="1"/>
              <a:t>both</a:t>
            </a:r>
            <a:r>
              <a:rPr lang="pl-PL" dirty="0"/>
              <a:t> </a:t>
            </a:r>
            <a:r>
              <a:rPr lang="pl-PL" dirty="0" err="1"/>
              <a:t>members</a:t>
            </a:r>
            <a:r>
              <a:rPr lang="pl-PL" dirty="0"/>
              <a:t> and </a:t>
            </a:r>
            <a:r>
              <a:rPr lang="pl-PL" dirty="0" err="1"/>
              <a:t>casuals</a:t>
            </a:r>
            <a:r>
              <a:rPr lang="pl-PL" dirty="0"/>
              <a:t>.</a:t>
            </a:r>
          </a:p>
          <a:p>
            <a:r>
              <a:rPr lang="pl-PL" dirty="0"/>
              <a:t>May be </a:t>
            </a:r>
            <a:r>
              <a:rPr lang="pl-PL" dirty="0" err="1"/>
              <a:t>limited</a:t>
            </a:r>
            <a:r>
              <a:rPr lang="pl-PL" dirty="0"/>
              <a:t> by </a:t>
            </a:r>
            <a:r>
              <a:rPr lang="pl-PL" dirty="0" err="1"/>
              <a:t>availability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dirty="0" err="1"/>
              <a:t>user</a:t>
            </a:r>
            <a:r>
              <a:rPr lang="pl-PL" dirty="0"/>
              <a:t> </a:t>
            </a:r>
            <a:r>
              <a:rPr lang="pl-PL" dirty="0" err="1"/>
              <a:t>familiarity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1375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A0D61-8AA5-764A-117D-951D68299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11358F8-831D-152B-D197-D2C586A77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300620A-385E-E5CE-CC71-E18C557BE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34C734A-A722-1658-718B-64E730801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9798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 err="1"/>
              <a:t>Overview</a:t>
            </a:r>
            <a:endParaRPr lang="pl-PL" b="1" dirty="0"/>
          </a:p>
          <a:p>
            <a:r>
              <a:rPr lang="pl-PL" dirty="0" err="1"/>
              <a:t>This</a:t>
            </a:r>
            <a:r>
              <a:rPr lang="pl-PL" dirty="0"/>
              <a:t> map </a:t>
            </a:r>
            <a:r>
              <a:rPr lang="pl-PL" dirty="0" err="1"/>
              <a:t>shows</a:t>
            </a:r>
            <a:r>
              <a:rPr lang="pl-PL" dirty="0"/>
              <a:t> the </a:t>
            </a:r>
            <a:r>
              <a:rPr lang="pl-PL" b="1" dirty="0"/>
              <a:t>top start </a:t>
            </a:r>
            <a:r>
              <a:rPr lang="pl-PL" b="1" dirty="0" err="1"/>
              <a:t>stations</a:t>
            </a:r>
            <a:r>
              <a:rPr lang="pl-PL" b="1" dirty="0"/>
              <a:t> for </a:t>
            </a:r>
            <a:r>
              <a:rPr lang="pl-PL" b="1" dirty="0" err="1"/>
              <a:t>Cyclistic</a:t>
            </a:r>
            <a:r>
              <a:rPr lang="pl-PL" b="1" dirty="0"/>
              <a:t> </a:t>
            </a:r>
            <a:r>
              <a:rPr lang="pl-PL" b="1" dirty="0" err="1"/>
              <a:t>members</a:t>
            </a:r>
            <a:r>
              <a:rPr lang="pl-PL" b="1" dirty="0"/>
              <a:t> and casual </a:t>
            </a:r>
            <a:r>
              <a:rPr lang="pl-PL" b="1" dirty="0" err="1"/>
              <a:t>riders</a:t>
            </a:r>
            <a:r>
              <a:rPr lang="pl-PL" dirty="0"/>
              <a:t>, with </a:t>
            </a:r>
            <a:r>
              <a:rPr lang="pl-PL" dirty="0" err="1"/>
              <a:t>circle</a:t>
            </a:r>
            <a:r>
              <a:rPr lang="pl-PL" dirty="0"/>
              <a:t> </a:t>
            </a:r>
            <a:r>
              <a:rPr lang="pl-PL" dirty="0" err="1"/>
              <a:t>size</a:t>
            </a:r>
            <a:r>
              <a:rPr lang="pl-PL" dirty="0"/>
              <a:t> </a:t>
            </a:r>
            <a:r>
              <a:rPr lang="pl-PL" dirty="0" err="1"/>
              <a:t>representing</a:t>
            </a:r>
            <a:r>
              <a:rPr lang="pl-PL" dirty="0"/>
              <a:t> </a:t>
            </a:r>
            <a:r>
              <a:rPr lang="pl-PL" dirty="0" err="1"/>
              <a:t>trip</a:t>
            </a:r>
            <a:r>
              <a:rPr lang="pl-PL" dirty="0"/>
              <a:t> </a:t>
            </a:r>
            <a:r>
              <a:rPr lang="pl-PL" dirty="0" err="1"/>
              <a:t>volume</a:t>
            </a:r>
            <a:r>
              <a:rPr lang="pl-PL" dirty="0"/>
              <a:t> and </a:t>
            </a:r>
            <a:r>
              <a:rPr lang="pl-PL" dirty="0" err="1"/>
              <a:t>color</a:t>
            </a:r>
            <a:r>
              <a:rPr lang="pl-PL" dirty="0"/>
              <a:t> </a:t>
            </a:r>
            <a:r>
              <a:rPr lang="pl-PL" dirty="0" err="1"/>
              <a:t>indicating</a:t>
            </a:r>
            <a:r>
              <a:rPr lang="pl-PL" dirty="0"/>
              <a:t> </a:t>
            </a:r>
            <a:r>
              <a:rPr lang="pl-PL" dirty="0" err="1"/>
              <a:t>rider</a:t>
            </a:r>
            <a:r>
              <a:rPr lang="pl-PL" dirty="0"/>
              <a:t> </a:t>
            </a:r>
            <a:r>
              <a:rPr lang="pl-PL" dirty="0" err="1"/>
              <a:t>type</a:t>
            </a:r>
            <a:r>
              <a:rPr lang="pl-PL" dirty="0"/>
              <a:t>. The </a:t>
            </a:r>
            <a:r>
              <a:rPr lang="pl-PL" dirty="0" err="1"/>
              <a:t>patterns</a:t>
            </a:r>
            <a:r>
              <a:rPr lang="pl-PL" dirty="0"/>
              <a:t> </a:t>
            </a:r>
            <a:r>
              <a:rPr lang="pl-PL" dirty="0" err="1"/>
              <a:t>reveal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b="1" dirty="0"/>
              <a:t>casual </a:t>
            </a:r>
            <a:r>
              <a:rPr lang="pl-PL" b="1" dirty="0" err="1"/>
              <a:t>riders</a:t>
            </a:r>
            <a:r>
              <a:rPr lang="pl-PL" b="1" dirty="0"/>
              <a:t> and </a:t>
            </a:r>
            <a:r>
              <a:rPr lang="pl-PL" b="1" dirty="0" err="1"/>
              <a:t>members</a:t>
            </a:r>
            <a:r>
              <a:rPr lang="pl-PL" b="1" dirty="0"/>
              <a:t> </a:t>
            </a:r>
            <a:r>
              <a:rPr lang="pl-PL" b="1" dirty="0" err="1"/>
              <a:t>rely</a:t>
            </a:r>
            <a:r>
              <a:rPr lang="pl-PL" b="1" dirty="0"/>
              <a:t> on </a:t>
            </a:r>
            <a:r>
              <a:rPr lang="pl-PL" b="1" dirty="0" err="1"/>
              <a:t>different</a:t>
            </a:r>
            <a:r>
              <a:rPr lang="pl-PL" b="1" dirty="0"/>
              <a:t> </a:t>
            </a:r>
            <a:r>
              <a:rPr lang="pl-PL" b="1" dirty="0" err="1"/>
              <a:t>key</a:t>
            </a:r>
            <a:r>
              <a:rPr lang="pl-PL" b="1" dirty="0"/>
              <a:t> </a:t>
            </a:r>
            <a:r>
              <a:rPr lang="pl-PL" b="1" dirty="0" err="1"/>
              <a:t>stations</a:t>
            </a:r>
            <a:r>
              <a:rPr lang="pl-PL" dirty="0"/>
              <a:t>, </a:t>
            </a:r>
            <a:r>
              <a:rPr lang="pl-PL" dirty="0" err="1"/>
              <a:t>reflecting</a:t>
            </a:r>
            <a:r>
              <a:rPr lang="pl-PL" dirty="0"/>
              <a:t> </a:t>
            </a:r>
            <a:r>
              <a:rPr lang="pl-PL" dirty="0" err="1"/>
              <a:t>distinct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cases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b="1" dirty="0" err="1"/>
              <a:t>Different</a:t>
            </a:r>
            <a:r>
              <a:rPr lang="pl-PL" b="1" dirty="0"/>
              <a:t> </a:t>
            </a:r>
            <a:r>
              <a:rPr lang="pl-PL" b="1" dirty="0" err="1"/>
              <a:t>hotspots</a:t>
            </a:r>
            <a:endParaRPr lang="pl-PL" dirty="0"/>
          </a:p>
          <a:p>
            <a:r>
              <a:rPr lang="pl-PL" b="1" dirty="0"/>
              <a:t>Casual </a:t>
            </a:r>
            <a:r>
              <a:rPr lang="pl-PL" b="1" dirty="0" err="1"/>
              <a:t>riders</a:t>
            </a:r>
            <a:r>
              <a:rPr lang="pl-PL" dirty="0"/>
              <a:t> </a:t>
            </a:r>
            <a:r>
              <a:rPr lang="pl-PL" dirty="0" err="1"/>
              <a:t>cluster</a:t>
            </a:r>
            <a:r>
              <a:rPr lang="pl-PL" dirty="0"/>
              <a:t> </a:t>
            </a:r>
            <a:r>
              <a:rPr lang="pl-PL" dirty="0" err="1"/>
              <a:t>around</a:t>
            </a:r>
            <a:r>
              <a:rPr lang="pl-PL" dirty="0"/>
              <a:t> </a:t>
            </a:r>
            <a:r>
              <a:rPr lang="pl-PL" b="1" dirty="0" err="1"/>
              <a:t>tourist</a:t>
            </a:r>
            <a:r>
              <a:rPr lang="pl-PL" b="1" dirty="0"/>
              <a:t> and </a:t>
            </a:r>
            <a:r>
              <a:rPr lang="pl-PL" b="1" dirty="0" err="1"/>
              <a:t>leisure</a:t>
            </a:r>
            <a:r>
              <a:rPr lang="pl-PL" b="1" dirty="0"/>
              <a:t> </a:t>
            </a:r>
            <a:r>
              <a:rPr lang="pl-PL" b="1" dirty="0" err="1"/>
              <a:t>locations</a:t>
            </a:r>
            <a:r>
              <a:rPr lang="pl-PL" dirty="0"/>
              <a:t> </a:t>
            </a:r>
            <a:r>
              <a:rPr lang="pl-PL" dirty="0" err="1"/>
              <a:t>along</a:t>
            </a:r>
            <a:r>
              <a:rPr lang="pl-PL" dirty="0"/>
              <a:t> the </a:t>
            </a:r>
            <a:r>
              <a:rPr lang="pl-PL" dirty="0" err="1"/>
              <a:t>lakefront</a:t>
            </a:r>
            <a:r>
              <a:rPr lang="pl-PL" dirty="0"/>
              <a:t> (</a:t>
            </a:r>
            <a:r>
              <a:rPr lang="pl-PL" dirty="0" err="1"/>
              <a:t>e.g</a:t>
            </a:r>
            <a:r>
              <a:rPr lang="pl-PL" dirty="0"/>
              <a:t>., </a:t>
            </a:r>
            <a:r>
              <a:rPr lang="pl-PL" dirty="0" err="1"/>
              <a:t>Navy</a:t>
            </a:r>
            <a:r>
              <a:rPr lang="pl-PL" dirty="0"/>
              <a:t> Pier, </a:t>
            </a:r>
            <a:r>
              <a:rPr lang="pl-PL" dirty="0" err="1"/>
              <a:t>museum</a:t>
            </a:r>
            <a:r>
              <a:rPr lang="pl-PL" dirty="0"/>
              <a:t> &amp; park </a:t>
            </a:r>
            <a:r>
              <a:rPr lang="pl-PL" dirty="0" err="1"/>
              <a:t>areas</a:t>
            </a:r>
            <a:r>
              <a:rPr lang="pl-PL" dirty="0"/>
              <a:t>).</a:t>
            </a:r>
          </a:p>
          <a:p>
            <a:r>
              <a:rPr lang="pl-PL" b="1" dirty="0" err="1"/>
              <a:t>Members</a:t>
            </a:r>
            <a:r>
              <a:rPr lang="pl-PL" dirty="0"/>
              <a:t> </a:t>
            </a:r>
            <a:r>
              <a:rPr lang="pl-PL" dirty="0" err="1"/>
              <a:t>concentrate</a:t>
            </a:r>
            <a:r>
              <a:rPr lang="pl-PL" dirty="0"/>
              <a:t> </a:t>
            </a:r>
            <a:r>
              <a:rPr lang="pl-PL" dirty="0" err="1"/>
              <a:t>near</a:t>
            </a:r>
            <a:r>
              <a:rPr lang="pl-PL" dirty="0"/>
              <a:t> </a:t>
            </a:r>
            <a:r>
              <a:rPr lang="pl-PL" b="1" dirty="0"/>
              <a:t>transport </a:t>
            </a:r>
            <a:r>
              <a:rPr lang="pl-PL" b="1" dirty="0" err="1"/>
              <a:t>hubs</a:t>
            </a:r>
            <a:r>
              <a:rPr lang="pl-PL" b="1" dirty="0"/>
              <a:t> and </a:t>
            </a:r>
            <a:r>
              <a:rPr lang="pl-PL" b="1" dirty="0" err="1"/>
              <a:t>dense</a:t>
            </a:r>
            <a:r>
              <a:rPr lang="pl-PL" b="1" dirty="0"/>
              <a:t> residential/business </a:t>
            </a:r>
            <a:r>
              <a:rPr lang="pl-PL" b="1" dirty="0" err="1"/>
              <a:t>areas</a:t>
            </a:r>
            <a:r>
              <a:rPr lang="pl-PL" dirty="0"/>
              <a:t> in central Chicago.</a:t>
            </a:r>
          </a:p>
          <a:p>
            <a:endParaRPr lang="pl-PL" dirty="0"/>
          </a:p>
          <a:p>
            <a:endParaRPr lang="pl-PL" dirty="0"/>
          </a:p>
          <a:p>
            <a:r>
              <a:rPr lang="pl-PL" b="1" dirty="0" err="1"/>
              <a:t>Behavior</a:t>
            </a:r>
            <a:r>
              <a:rPr lang="pl-PL" b="1" dirty="0"/>
              <a:t> </a:t>
            </a:r>
            <a:r>
              <a:rPr lang="pl-PL" b="1" dirty="0" err="1"/>
              <a:t>signal</a:t>
            </a:r>
            <a:endParaRPr lang="pl-PL" dirty="0"/>
          </a:p>
          <a:p>
            <a:r>
              <a:rPr lang="pl-PL" dirty="0"/>
              <a:t>Casual </a:t>
            </a:r>
            <a:r>
              <a:rPr lang="pl-PL" dirty="0" err="1"/>
              <a:t>riders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bikes</a:t>
            </a:r>
            <a:r>
              <a:rPr lang="pl-PL" dirty="0"/>
              <a:t> </a:t>
            </a:r>
            <a:r>
              <a:rPr lang="pl-PL" dirty="0" err="1"/>
              <a:t>mainly</a:t>
            </a:r>
            <a:r>
              <a:rPr lang="pl-PL" dirty="0"/>
              <a:t> for </a:t>
            </a:r>
            <a:r>
              <a:rPr lang="pl-PL" b="1" dirty="0" err="1"/>
              <a:t>exploring</a:t>
            </a:r>
            <a:r>
              <a:rPr lang="pl-PL" b="1" dirty="0"/>
              <a:t> </a:t>
            </a:r>
            <a:r>
              <a:rPr lang="pl-PL" b="1" dirty="0" err="1"/>
              <a:t>attractions</a:t>
            </a:r>
            <a:r>
              <a:rPr lang="pl-PL" b="1" dirty="0"/>
              <a:t> and the </a:t>
            </a:r>
            <a:r>
              <a:rPr lang="pl-PL" b="1" dirty="0" err="1"/>
              <a:t>waterfront</a:t>
            </a:r>
            <a:r>
              <a:rPr lang="pl-PL" dirty="0"/>
              <a:t>.</a:t>
            </a:r>
          </a:p>
          <a:p>
            <a:r>
              <a:rPr lang="pl-PL" dirty="0" err="1"/>
              <a:t>Members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bikes</a:t>
            </a:r>
            <a:r>
              <a:rPr lang="pl-PL" dirty="0"/>
              <a:t> for </a:t>
            </a:r>
            <a:r>
              <a:rPr lang="pl-PL" b="1" dirty="0" err="1"/>
              <a:t>everyday</a:t>
            </a:r>
            <a:r>
              <a:rPr lang="pl-PL" b="1" dirty="0"/>
              <a:t> </a:t>
            </a:r>
            <a:r>
              <a:rPr lang="pl-PL" b="1" dirty="0" err="1"/>
              <a:t>commuting</a:t>
            </a:r>
            <a:r>
              <a:rPr lang="pl-PL" b="1" dirty="0"/>
              <a:t> and </a:t>
            </a:r>
            <a:r>
              <a:rPr lang="pl-PL" b="1" dirty="0" err="1"/>
              <a:t>local</a:t>
            </a:r>
            <a:r>
              <a:rPr lang="pl-PL" b="1" dirty="0"/>
              <a:t> </a:t>
            </a:r>
            <a:r>
              <a:rPr lang="pl-PL" b="1" dirty="0" err="1"/>
              <a:t>mobility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4491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26B4E-00D5-E412-0BAA-BC8C4D09E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9F41CBF-8D6C-997F-6F46-11464F8C6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18ACA022-399D-7109-7EFB-0A2E88CAC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 err="1"/>
              <a:t>Overview</a:t>
            </a:r>
            <a:endParaRPr lang="pl-PL" b="1" dirty="0"/>
          </a:p>
          <a:p>
            <a:r>
              <a:rPr lang="pl-PL" dirty="0" err="1"/>
              <a:t>This</a:t>
            </a:r>
            <a:r>
              <a:rPr lang="pl-PL" dirty="0"/>
              <a:t> map </a:t>
            </a:r>
            <a:r>
              <a:rPr lang="pl-PL" dirty="0" err="1"/>
              <a:t>shows</a:t>
            </a:r>
            <a:r>
              <a:rPr lang="pl-PL" dirty="0"/>
              <a:t> the </a:t>
            </a:r>
            <a:r>
              <a:rPr lang="pl-PL" b="1" dirty="0"/>
              <a:t>top start </a:t>
            </a:r>
            <a:r>
              <a:rPr lang="pl-PL" b="1" dirty="0" err="1"/>
              <a:t>stations</a:t>
            </a:r>
            <a:r>
              <a:rPr lang="pl-PL" b="1" dirty="0"/>
              <a:t> for </a:t>
            </a:r>
            <a:r>
              <a:rPr lang="pl-PL" b="1" dirty="0" err="1"/>
              <a:t>Cyclistic</a:t>
            </a:r>
            <a:r>
              <a:rPr lang="pl-PL" b="1" dirty="0"/>
              <a:t> </a:t>
            </a:r>
            <a:r>
              <a:rPr lang="pl-PL" b="1" dirty="0" err="1"/>
              <a:t>members</a:t>
            </a:r>
            <a:r>
              <a:rPr lang="pl-PL" b="1" dirty="0"/>
              <a:t> and casual </a:t>
            </a:r>
            <a:r>
              <a:rPr lang="pl-PL" b="1" dirty="0" err="1"/>
              <a:t>riders</a:t>
            </a:r>
            <a:r>
              <a:rPr lang="pl-PL" dirty="0"/>
              <a:t>, with </a:t>
            </a:r>
            <a:r>
              <a:rPr lang="pl-PL" dirty="0" err="1"/>
              <a:t>circle</a:t>
            </a:r>
            <a:r>
              <a:rPr lang="pl-PL" dirty="0"/>
              <a:t> </a:t>
            </a:r>
            <a:r>
              <a:rPr lang="pl-PL" dirty="0" err="1"/>
              <a:t>size</a:t>
            </a:r>
            <a:r>
              <a:rPr lang="pl-PL" dirty="0"/>
              <a:t> </a:t>
            </a:r>
            <a:r>
              <a:rPr lang="pl-PL" dirty="0" err="1"/>
              <a:t>representing</a:t>
            </a:r>
            <a:r>
              <a:rPr lang="pl-PL" dirty="0"/>
              <a:t> </a:t>
            </a:r>
            <a:r>
              <a:rPr lang="pl-PL" dirty="0" err="1"/>
              <a:t>trip</a:t>
            </a:r>
            <a:r>
              <a:rPr lang="pl-PL" dirty="0"/>
              <a:t> </a:t>
            </a:r>
            <a:r>
              <a:rPr lang="pl-PL" dirty="0" err="1"/>
              <a:t>volume</a:t>
            </a:r>
            <a:r>
              <a:rPr lang="pl-PL" dirty="0"/>
              <a:t> and </a:t>
            </a:r>
            <a:r>
              <a:rPr lang="pl-PL" dirty="0" err="1"/>
              <a:t>color</a:t>
            </a:r>
            <a:r>
              <a:rPr lang="pl-PL" dirty="0"/>
              <a:t> </a:t>
            </a:r>
            <a:r>
              <a:rPr lang="pl-PL" dirty="0" err="1"/>
              <a:t>indicating</a:t>
            </a:r>
            <a:r>
              <a:rPr lang="pl-PL" dirty="0"/>
              <a:t> </a:t>
            </a:r>
            <a:r>
              <a:rPr lang="pl-PL" dirty="0" err="1"/>
              <a:t>rider</a:t>
            </a:r>
            <a:r>
              <a:rPr lang="pl-PL" dirty="0"/>
              <a:t> </a:t>
            </a:r>
            <a:r>
              <a:rPr lang="pl-PL" dirty="0" err="1"/>
              <a:t>type</a:t>
            </a:r>
            <a:r>
              <a:rPr lang="pl-PL" dirty="0"/>
              <a:t>. The </a:t>
            </a:r>
            <a:r>
              <a:rPr lang="pl-PL" dirty="0" err="1"/>
              <a:t>patterns</a:t>
            </a:r>
            <a:r>
              <a:rPr lang="pl-PL" dirty="0"/>
              <a:t> </a:t>
            </a:r>
            <a:r>
              <a:rPr lang="pl-PL" dirty="0" err="1"/>
              <a:t>reveal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b="1" dirty="0"/>
              <a:t>casual </a:t>
            </a:r>
            <a:r>
              <a:rPr lang="pl-PL" b="1" dirty="0" err="1"/>
              <a:t>riders</a:t>
            </a:r>
            <a:r>
              <a:rPr lang="pl-PL" b="1" dirty="0"/>
              <a:t> and </a:t>
            </a:r>
            <a:r>
              <a:rPr lang="pl-PL" b="1" dirty="0" err="1"/>
              <a:t>members</a:t>
            </a:r>
            <a:r>
              <a:rPr lang="pl-PL" b="1" dirty="0"/>
              <a:t> </a:t>
            </a:r>
            <a:r>
              <a:rPr lang="pl-PL" b="1" dirty="0" err="1"/>
              <a:t>rely</a:t>
            </a:r>
            <a:r>
              <a:rPr lang="pl-PL" b="1" dirty="0"/>
              <a:t> on </a:t>
            </a:r>
            <a:r>
              <a:rPr lang="pl-PL" b="1" dirty="0" err="1"/>
              <a:t>different</a:t>
            </a:r>
            <a:r>
              <a:rPr lang="pl-PL" b="1" dirty="0"/>
              <a:t> </a:t>
            </a:r>
            <a:r>
              <a:rPr lang="pl-PL" b="1" dirty="0" err="1"/>
              <a:t>key</a:t>
            </a:r>
            <a:r>
              <a:rPr lang="pl-PL" b="1" dirty="0"/>
              <a:t> </a:t>
            </a:r>
            <a:r>
              <a:rPr lang="pl-PL" b="1" dirty="0" err="1"/>
              <a:t>stations</a:t>
            </a:r>
            <a:r>
              <a:rPr lang="pl-PL" dirty="0"/>
              <a:t>, </a:t>
            </a:r>
            <a:r>
              <a:rPr lang="pl-PL" dirty="0" err="1"/>
              <a:t>reflecting</a:t>
            </a:r>
            <a:r>
              <a:rPr lang="pl-PL" dirty="0"/>
              <a:t> </a:t>
            </a:r>
            <a:r>
              <a:rPr lang="pl-PL" dirty="0" err="1"/>
              <a:t>distinct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cases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b="1" dirty="0" err="1"/>
              <a:t>Different</a:t>
            </a:r>
            <a:r>
              <a:rPr lang="pl-PL" b="1" dirty="0"/>
              <a:t> </a:t>
            </a:r>
            <a:r>
              <a:rPr lang="pl-PL" b="1" dirty="0" err="1"/>
              <a:t>hotspots</a:t>
            </a:r>
            <a:endParaRPr lang="pl-PL" dirty="0"/>
          </a:p>
          <a:p>
            <a:r>
              <a:rPr lang="pl-PL" b="1" dirty="0"/>
              <a:t>Casual </a:t>
            </a:r>
            <a:r>
              <a:rPr lang="pl-PL" b="1" dirty="0" err="1"/>
              <a:t>riders</a:t>
            </a:r>
            <a:r>
              <a:rPr lang="pl-PL" dirty="0"/>
              <a:t> </a:t>
            </a:r>
            <a:r>
              <a:rPr lang="pl-PL" dirty="0" err="1"/>
              <a:t>cluster</a:t>
            </a:r>
            <a:r>
              <a:rPr lang="pl-PL" dirty="0"/>
              <a:t> </a:t>
            </a:r>
            <a:r>
              <a:rPr lang="pl-PL" dirty="0" err="1"/>
              <a:t>around</a:t>
            </a:r>
            <a:r>
              <a:rPr lang="pl-PL" dirty="0"/>
              <a:t> </a:t>
            </a:r>
            <a:r>
              <a:rPr lang="pl-PL" b="1" dirty="0" err="1"/>
              <a:t>tourist</a:t>
            </a:r>
            <a:r>
              <a:rPr lang="pl-PL" b="1" dirty="0"/>
              <a:t> and </a:t>
            </a:r>
            <a:r>
              <a:rPr lang="pl-PL" b="1" dirty="0" err="1"/>
              <a:t>leisure</a:t>
            </a:r>
            <a:r>
              <a:rPr lang="pl-PL" b="1" dirty="0"/>
              <a:t> </a:t>
            </a:r>
            <a:r>
              <a:rPr lang="pl-PL" b="1" dirty="0" err="1"/>
              <a:t>locations</a:t>
            </a:r>
            <a:r>
              <a:rPr lang="pl-PL" dirty="0"/>
              <a:t> </a:t>
            </a:r>
            <a:r>
              <a:rPr lang="pl-PL" dirty="0" err="1"/>
              <a:t>along</a:t>
            </a:r>
            <a:r>
              <a:rPr lang="pl-PL" dirty="0"/>
              <a:t> the </a:t>
            </a:r>
            <a:r>
              <a:rPr lang="pl-PL" dirty="0" err="1"/>
              <a:t>lakefront</a:t>
            </a:r>
            <a:r>
              <a:rPr lang="pl-PL" dirty="0"/>
              <a:t> (</a:t>
            </a:r>
            <a:r>
              <a:rPr lang="pl-PL" dirty="0" err="1"/>
              <a:t>e.g</a:t>
            </a:r>
            <a:r>
              <a:rPr lang="pl-PL" dirty="0"/>
              <a:t>., </a:t>
            </a:r>
            <a:r>
              <a:rPr lang="pl-PL" dirty="0" err="1"/>
              <a:t>Navy</a:t>
            </a:r>
            <a:r>
              <a:rPr lang="pl-PL" dirty="0"/>
              <a:t> Pier, </a:t>
            </a:r>
            <a:r>
              <a:rPr lang="pl-PL" dirty="0" err="1"/>
              <a:t>museum</a:t>
            </a:r>
            <a:r>
              <a:rPr lang="pl-PL" dirty="0"/>
              <a:t> &amp; park </a:t>
            </a:r>
            <a:r>
              <a:rPr lang="pl-PL" dirty="0" err="1"/>
              <a:t>areas</a:t>
            </a:r>
            <a:r>
              <a:rPr lang="pl-PL" dirty="0"/>
              <a:t>).</a:t>
            </a:r>
          </a:p>
          <a:p>
            <a:r>
              <a:rPr lang="pl-PL" b="1" dirty="0" err="1"/>
              <a:t>Members</a:t>
            </a:r>
            <a:r>
              <a:rPr lang="pl-PL" dirty="0"/>
              <a:t> </a:t>
            </a:r>
            <a:r>
              <a:rPr lang="pl-PL" dirty="0" err="1"/>
              <a:t>concentrate</a:t>
            </a:r>
            <a:r>
              <a:rPr lang="pl-PL" dirty="0"/>
              <a:t> </a:t>
            </a:r>
            <a:r>
              <a:rPr lang="pl-PL" dirty="0" err="1"/>
              <a:t>near</a:t>
            </a:r>
            <a:r>
              <a:rPr lang="pl-PL" dirty="0"/>
              <a:t> </a:t>
            </a:r>
            <a:r>
              <a:rPr lang="pl-PL" b="1" dirty="0"/>
              <a:t>transport </a:t>
            </a:r>
            <a:r>
              <a:rPr lang="pl-PL" b="1" dirty="0" err="1"/>
              <a:t>hubs</a:t>
            </a:r>
            <a:r>
              <a:rPr lang="pl-PL" b="1" dirty="0"/>
              <a:t> and </a:t>
            </a:r>
            <a:r>
              <a:rPr lang="pl-PL" b="1" dirty="0" err="1"/>
              <a:t>dense</a:t>
            </a:r>
            <a:r>
              <a:rPr lang="pl-PL" b="1" dirty="0"/>
              <a:t> residential/business </a:t>
            </a:r>
            <a:r>
              <a:rPr lang="pl-PL" b="1" dirty="0" err="1"/>
              <a:t>areas</a:t>
            </a:r>
            <a:r>
              <a:rPr lang="pl-PL" dirty="0"/>
              <a:t> in central Chicago.</a:t>
            </a:r>
          </a:p>
          <a:p>
            <a:endParaRPr lang="pl-PL" dirty="0"/>
          </a:p>
          <a:p>
            <a:endParaRPr lang="pl-PL" dirty="0"/>
          </a:p>
          <a:p>
            <a:r>
              <a:rPr lang="pl-PL" b="1" dirty="0" err="1"/>
              <a:t>Behavior</a:t>
            </a:r>
            <a:r>
              <a:rPr lang="pl-PL" b="1" dirty="0"/>
              <a:t> </a:t>
            </a:r>
            <a:r>
              <a:rPr lang="pl-PL" b="1" dirty="0" err="1"/>
              <a:t>signal</a:t>
            </a:r>
            <a:endParaRPr lang="pl-PL" dirty="0"/>
          </a:p>
          <a:p>
            <a:r>
              <a:rPr lang="pl-PL" dirty="0"/>
              <a:t>Casual </a:t>
            </a:r>
            <a:r>
              <a:rPr lang="pl-PL" dirty="0" err="1"/>
              <a:t>riders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bikes</a:t>
            </a:r>
            <a:r>
              <a:rPr lang="pl-PL" dirty="0"/>
              <a:t> </a:t>
            </a:r>
            <a:r>
              <a:rPr lang="pl-PL" dirty="0" err="1"/>
              <a:t>mainly</a:t>
            </a:r>
            <a:r>
              <a:rPr lang="pl-PL" dirty="0"/>
              <a:t> for </a:t>
            </a:r>
            <a:r>
              <a:rPr lang="pl-PL" b="1" dirty="0" err="1"/>
              <a:t>exploring</a:t>
            </a:r>
            <a:r>
              <a:rPr lang="pl-PL" b="1" dirty="0"/>
              <a:t> </a:t>
            </a:r>
            <a:r>
              <a:rPr lang="pl-PL" b="1" dirty="0" err="1"/>
              <a:t>attractions</a:t>
            </a:r>
            <a:r>
              <a:rPr lang="pl-PL" b="1" dirty="0"/>
              <a:t> and the </a:t>
            </a:r>
            <a:r>
              <a:rPr lang="pl-PL" b="1" dirty="0" err="1"/>
              <a:t>waterfront</a:t>
            </a:r>
            <a:r>
              <a:rPr lang="pl-PL" dirty="0"/>
              <a:t>.</a:t>
            </a:r>
          </a:p>
          <a:p>
            <a:r>
              <a:rPr lang="pl-PL" dirty="0" err="1"/>
              <a:t>Members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bikes</a:t>
            </a:r>
            <a:r>
              <a:rPr lang="pl-PL" dirty="0"/>
              <a:t> for </a:t>
            </a:r>
            <a:r>
              <a:rPr lang="pl-PL" b="1" dirty="0" err="1"/>
              <a:t>everyday</a:t>
            </a:r>
            <a:r>
              <a:rPr lang="pl-PL" b="1" dirty="0"/>
              <a:t> </a:t>
            </a:r>
            <a:r>
              <a:rPr lang="pl-PL" b="1" dirty="0" err="1"/>
              <a:t>commuting</a:t>
            </a:r>
            <a:r>
              <a:rPr lang="pl-PL" b="1" dirty="0"/>
              <a:t> and </a:t>
            </a:r>
            <a:r>
              <a:rPr lang="pl-PL" b="1" dirty="0" err="1"/>
              <a:t>local</a:t>
            </a:r>
            <a:r>
              <a:rPr lang="pl-PL" b="1" dirty="0"/>
              <a:t> </a:t>
            </a:r>
            <a:r>
              <a:rPr lang="pl-PL" b="1" dirty="0" err="1"/>
              <a:t>mobility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D23DD3D-D907-0597-C962-B2E27B6C7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81778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2D561-C1BD-1F49-B492-4533E15C7B65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4299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9428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874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879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0484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857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529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337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134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397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4464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305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215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086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269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490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876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897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4382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221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922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647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17865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5825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25580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23359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8974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3843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36171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8598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11/5/25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490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659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0425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1642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0933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0268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7457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151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4826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830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06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2454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8844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7864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245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6419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475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11/5/25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716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11/5/25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449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20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867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830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28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  <p:sldLayoutId id="2147483838" r:id="rId22"/>
    <p:sldLayoutId id="2147483839" r:id="rId23"/>
    <p:sldLayoutId id="2147483840" r:id="rId24"/>
    <p:sldLayoutId id="2147483841" r:id="rId25"/>
    <p:sldLayoutId id="2147483842" r:id="rId26"/>
    <p:sldLayoutId id="2147483843" r:id="rId27"/>
    <p:sldLayoutId id="2147483844" r:id="rId28"/>
    <p:sldLayoutId id="2147483845" r:id="rId29"/>
    <p:sldLayoutId id="2147483846" r:id="rId30"/>
    <p:sldLayoutId id="2147483847" r:id="rId31"/>
    <p:sldLayoutId id="2147483848" r:id="rId32"/>
    <p:sldLayoutId id="2147483849" r:id="rId33"/>
    <p:sldLayoutId id="2147483850" r:id="rId34"/>
    <p:sldLayoutId id="2147483851" r:id="rId35"/>
    <p:sldLayoutId id="2147483852" r:id="rId36"/>
    <p:sldLayoutId id="2147483853" r:id="rId37"/>
    <p:sldLayoutId id="2147483854" r:id="rId38"/>
    <p:sldLayoutId id="2147483867" r:id="rId39"/>
    <p:sldLayoutId id="2147483855" r:id="rId40"/>
    <p:sldLayoutId id="2147483856" r:id="rId41"/>
    <p:sldLayoutId id="2147483857" r:id="rId42"/>
    <p:sldLayoutId id="2147483858" r:id="rId43"/>
    <p:sldLayoutId id="2147483859" r:id="rId44"/>
    <p:sldLayoutId id="2147483860" r:id="rId45"/>
    <p:sldLayoutId id="2147483861" r:id="rId46"/>
    <p:sldLayoutId id="2147483862" r:id="rId47"/>
    <p:sldLayoutId id="2147483863" r:id="rId48"/>
    <p:sldLayoutId id="2147483864" r:id="rId49"/>
    <p:sldLayoutId id="2147483865" r:id="rId50"/>
    <p:sldLayoutId id="2147483866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C8A6F5-1F7C-682A-9A5F-91AF3E240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anchor="t">
            <a:normAutofit/>
          </a:bodyPr>
          <a:lstStyle/>
          <a:p>
            <a:r>
              <a:rPr lang="en-GB" noProof="0" dirty="0"/>
              <a:t>How members vs. casuals ride differently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96A130C-5EB3-7669-D874-ECA9B2C8E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663440"/>
            <a:ext cx="7666379" cy="1344168"/>
          </a:xfrm>
        </p:spPr>
        <p:txBody>
          <a:bodyPr anchor="ctr">
            <a:normAutofit/>
          </a:bodyPr>
          <a:lstStyle/>
          <a:p>
            <a:pPr marL="0" indent="0" algn="l" rtl="0" eaLnBrk="1" latinLnBrk="0" hangingPunct="1">
              <a:lnSpc>
                <a:spcPct val="120000"/>
              </a:lnSpc>
              <a:spcBef>
                <a:spcPts val="1000"/>
              </a:spcBef>
              <a:buNone/>
            </a:pPr>
            <a:r>
              <a:rPr lang="en-GB" sz="2000" noProof="0" dirty="0">
                <a:solidFill>
                  <a:srgbClr val="FFFFFF"/>
                </a:solidFill>
                <a:effectLst/>
                <a:latin typeface="Aptos Light" panose="020B0004020202020204" pitchFamily="34" charset="0"/>
              </a:rPr>
              <a:t>Data covering the period from September 2024 through August 2025</a:t>
            </a:r>
          </a:p>
          <a:p>
            <a:pPr marL="0" indent="0" algn="l" rtl="0" eaLnBrk="1" latinLnBrk="0" hangingPunct="1">
              <a:lnSpc>
                <a:spcPct val="120000"/>
              </a:lnSpc>
              <a:spcBef>
                <a:spcPts val="1000"/>
              </a:spcBef>
              <a:buNone/>
            </a:pPr>
            <a:r>
              <a:rPr lang="en-GB" sz="2000" noProof="0" dirty="0">
                <a:solidFill>
                  <a:srgbClr val="FFFFFF"/>
                </a:solidFill>
                <a:effectLst/>
                <a:latin typeface="Aptos Light" panose="020B0004020202020204" pitchFamily="34" charset="0"/>
              </a:rPr>
              <a:t>Presented by: Dmytro Malymon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8945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CD07A2-70B0-E382-7622-DA060E2A4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381" y="2632673"/>
            <a:ext cx="10955238" cy="1592653"/>
          </a:xfrm>
        </p:spPr>
        <p:txBody>
          <a:bodyPr anchor="b">
            <a:normAutofit/>
          </a:bodyPr>
          <a:lstStyle/>
          <a:p>
            <a:r>
              <a:rPr lang="en-GB" noProof="0" dirty="0"/>
              <a:t>What are we talking about?</a:t>
            </a:r>
          </a:p>
        </p:txBody>
      </p:sp>
    </p:spTree>
    <p:extLst>
      <p:ext uri="{BB962C8B-B14F-4D97-AF65-F5344CB8AC3E}">
        <p14:creationId xmlns:p14="http://schemas.microsoft.com/office/powerpoint/2010/main" val="186431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E898F5-860F-7805-92ED-F5A092F13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/>
          <a:p>
            <a:r>
              <a:rPr lang="en-GB" noProof="0" dirty="0"/>
              <a:t>Objective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E035CF7-A21C-3CA9-4D47-1BC0E0411D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3622673"/>
            <a:ext cx="10911695" cy="160934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pl-PL" dirty="0" err="1">
                <a:effectLst/>
              </a:rPr>
              <a:t>What</a:t>
            </a:r>
            <a:r>
              <a:rPr lang="pl-PL" dirty="0">
                <a:effectLst/>
              </a:rPr>
              <a:t> </a:t>
            </a:r>
            <a:r>
              <a:rPr lang="pl-PL" dirty="0" err="1">
                <a:effectLst/>
              </a:rPr>
              <a:t>sets</a:t>
            </a:r>
            <a:r>
              <a:rPr lang="pl-PL" dirty="0">
                <a:effectLst/>
              </a:rPr>
              <a:t> </a:t>
            </a:r>
            <a:r>
              <a:rPr lang="pl-PL" dirty="0" err="1">
                <a:effectLst/>
              </a:rPr>
              <a:t>annual</a:t>
            </a:r>
            <a:r>
              <a:rPr lang="pl-PL" dirty="0">
                <a:effectLst/>
              </a:rPr>
              <a:t> </a:t>
            </a:r>
            <a:r>
              <a:rPr lang="pl-PL" dirty="0" err="1">
                <a:effectLst/>
              </a:rPr>
              <a:t>members</a:t>
            </a:r>
            <a:r>
              <a:rPr lang="pl-PL" dirty="0">
                <a:effectLst/>
              </a:rPr>
              <a:t> </a:t>
            </a:r>
            <a:r>
              <a:rPr lang="pl-PL" dirty="0" err="1">
                <a:effectLst/>
              </a:rPr>
              <a:t>apart</a:t>
            </a:r>
            <a:r>
              <a:rPr lang="pl-PL" dirty="0">
                <a:effectLst/>
              </a:rPr>
              <a:t> from casual </a:t>
            </a:r>
            <a:r>
              <a:rPr lang="pl-PL" dirty="0" err="1">
                <a:effectLst/>
              </a:rPr>
              <a:t>riders</a:t>
            </a:r>
            <a:r>
              <a:rPr lang="pl-PL" dirty="0">
                <a:effectLst/>
              </a:rPr>
              <a:t> in </a:t>
            </a:r>
            <a:r>
              <a:rPr lang="pl-PL" dirty="0" err="1">
                <a:effectLst/>
              </a:rPr>
              <a:t>their</a:t>
            </a:r>
            <a:r>
              <a:rPr lang="pl-PL" dirty="0">
                <a:effectLst/>
              </a:rPr>
              <a:t> </a:t>
            </a:r>
            <a:r>
              <a:rPr lang="pl-PL" dirty="0" err="1">
                <a:effectLst/>
              </a:rPr>
              <a:t>usage</a:t>
            </a:r>
            <a:r>
              <a:rPr lang="pl-PL" dirty="0">
                <a:effectLst/>
              </a:rPr>
              <a:t> of </a:t>
            </a:r>
            <a:r>
              <a:rPr lang="pl-PL" dirty="0" err="1">
                <a:effectLst/>
              </a:rPr>
              <a:t>Cyclistic</a:t>
            </a:r>
            <a:r>
              <a:rPr lang="pl-PL" dirty="0">
                <a:effectLst/>
              </a:rPr>
              <a:t> </a:t>
            </a:r>
            <a:r>
              <a:rPr lang="pl-PL" dirty="0" err="1">
                <a:effectLst/>
              </a:rPr>
              <a:t>bikes</a:t>
            </a:r>
            <a:r>
              <a:rPr lang="pl-PL" dirty="0">
                <a:effectLst/>
              </a:rPr>
              <a:t>? </a:t>
            </a:r>
            <a:r>
              <a:rPr lang="pl-PL" dirty="0" err="1">
                <a:effectLst/>
              </a:rPr>
              <a:t>Investigate</a:t>
            </a:r>
            <a:r>
              <a:rPr lang="pl-PL" dirty="0">
                <a:effectLst/>
              </a:rPr>
              <a:t> </a:t>
            </a:r>
            <a:r>
              <a:rPr lang="pl-PL" dirty="0" err="1">
                <a:effectLst/>
              </a:rPr>
              <a:t>whether</a:t>
            </a:r>
            <a:r>
              <a:rPr lang="pl-PL" dirty="0">
                <a:effectLst/>
              </a:rPr>
              <a:t> </a:t>
            </a:r>
            <a:r>
              <a:rPr lang="pl-PL" dirty="0" err="1">
                <a:effectLst/>
              </a:rPr>
              <a:t>elements</a:t>
            </a:r>
            <a:r>
              <a:rPr lang="pl-PL" dirty="0">
                <a:effectLst/>
              </a:rPr>
              <a:t> </a:t>
            </a:r>
            <a:r>
              <a:rPr lang="pl-PL" dirty="0" err="1">
                <a:effectLst/>
              </a:rPr>
              <a:t>like</a:t>
            </a:r>
            <a:r>
              <a:rPr lang="pl-PL" dirty="0">
                <a:effectLst/>
              </a:rPr>
              <a:t> </a:t>
            </a:r>
            <a:r>
              <a:rPr lang="pl-PL" dirty="0" err="1">
                <a:solidFill>
                  <a:srgbClr val="FF0000"/>
                </a:solidFill>
                <a:effectLst/>
              </a:rPr>
              <a:t>bike</a:t>
            </a:r>
            <a:r>
              <a:rPr lang="pl-PL" dirty="0">
                <a:solidFill>
                  <a:srgbClr val="FF0000"/>
                </a:solidFill>
                <a:effectLst/>
              </a:rPr>
              <a:t> model</a:t>
            </a:r>
            <a:r>
              <a:rPr lang="pl-PL" dirty="0">
                <a:effectLst/>
              </a:rPr>
              <a:t>, </a:t>
            </a:r>
            <a:r>
              <a:rPr lang="pl-PL" dirty="0" err="1">
                <a:solidFill>
                  <a:srgbClr val="FFC000"/>
                </a:solidFill>
                <a:effectLst/>
              </a:rPr>
              <a:t>time</a:t>
            </a:r>
            <a:r>
              <a:rPr lang="pl-PL" dirty="0">
                <a:solidFill>
                  <a:srgbClr val="FFC000"/>
                </a:solidFill>
                <a:effectLst/>
              </a:rPr>
              <a:t> of </a:t>
            </a:r>
            <a:r>
              <a:rPr lang="pl-PL" dirty="0" err="1">
                <a:solidFill>
                  <a:srgbClr val="FFC000"/>
                </a:solidFill>
                <a:effectLst/>
              </a:rPr>
              <a:t>day</a:t>
            </a:r>
            <a:r>
              <a:rPr lang="pl-PL" dirty="0">
                <a:effectLst/>
              </a:rPr>
              <a:t>, </a:t>
            </a:r>
            <a:r>
              <a:rPr lang="pl-PL" dirty="0" err="1">
                <a:solidFill>
                  <a:srgbClr val="00B050"/>
                </a:solidFill>
                <a:effectLst/>
              </a:rPr>
              <a:t>seasonal</a:t>
            </a:r>
            <a:r>
              <a:rPr lang="pl-PL" dirty="0">
                <a:solidFill>
                  <a:srgbClr val="00B050"/>
                </a:solidFill>
                <a:effectLst/>
              </a:rPr>
              <a:t> </a:t>
            </a:r>
            <a:r>
              <a:rPr lang="pl-PL" dirty="0" err="1">
                <a:solidFill>
                  <a:srgbClr val="00B050"/>
                </a:solidFill>
                <a:effectLst/>
              </a:rPr>
              <a:t>trends</a:t>
            </a:r>
            <a:r>
              <a:rPr lang="pl-PL" dirty="0">
                <a:effectLst/>
              </a:rPr>
              <a:t>, </a:t>
            </a:r>
            <a:r>
              <a:rPr lang="pl-PL" dirty="0" err="1">
                <a:effectLst/>
              </a:rPr>
              <a:t>or</a:t>
            </a:r>
            <a:r>
              <a:rPr lang="pl-PL" dirty="0">
                <a:effectLst/>
              </a:rPr>
              <a:t> </a:t>
            </a:r>
            <a:r>
              <a:rPr lang="pl-PL" dirty="0" err="1">
                <a:solidFill>
                  <a:srgbClr val="00B0F0"/>
                </a:solidFill>
                <a:effectLst/>
              </a:rPr>
              <a:t>other</a:t>
            </a:r>
            <a:r>
              <a:rPr lang="pl-PL" dirty="0">
                <a:solidFill>
                  <a:srgbClr val="00B0F0"/>
                </a:solidFill>
                <a:effectLst/>
              </a:rPr>
              <a:t> </a:t>
            </a:r>
            <a:r>
              <a:rPr lang="pl-PL" dirty="0" err="1">
                <a:solidFill>
                  <a:srgbClr val="00B0F0"/>
                </a:solidFill>
                <a:effectLst/>
              </a:rPr>
              <a:t>factors</a:t>
            </a:r>
            <a:r>
              <a:rPr lang="pl-PL" dirty="0">
                <a:solidFill>
                  <a:srgbClr val="00B0F0"/>
                </a:solidFill>
                <a:effectLst/>
              </a:rPr>
              <a:t> </a:t>
            </a:r>
            <a:r>
              <a:rPr lang="pl-PL" dirty="0" err="1">
                <a:effectLst/>
              </a:rPr>
              <a:t>affect</a:t>
            </a:r>
            <a:r>
              <a:rPr lang="pl-PL" dirty="0">
                <a:effectLst/>
              </a:rPr>
              <a:t> casual </a:t>
            </a:r>
            <a:r>
              <a:rPr lang="pl-PL" dirty="0" err="1">
                <a:effectLst/>
              </a:rPr>
              <a:t>riders</a:t>
            </a:r>
            <a:r>
              <a:rPr lang="pl-PL" dirty="0">
                <a:effectLst/>
              </a:rPr>
              <a:t>' </a:t>
            </a:r>
            <a:r>
              <a:rPr lang="pl-PL" dirty="0" err="1">
                <a:effectLst/>
              </a:rPr>
              <a:t>decisions</a:t>
            </a:r>
            <a:r>
              <a:rPr lang="pl-PL" dirty="0">
                <a:effectLst/>
              </a:rPr>
              <a:t> to </a:t>
            </a:r>
            <a:r>
              <a:rPr lang="pl-PL" dirty="0" err="1">
                <a:effectLst/>
              </a:rPr>
              <a:t>use</a:t>
            </a:r>
            <a:r>
              <a:rPr lang="pl-PL" dirty="0">
                <a:effectLst/>
              </a:rPr>
              <a:t> </a:t>
            </a:r>
            <a:r>
              <a:rPr lang="pl-PL" dirty="0" err="1">
                <a:effectLst/>
              </a:rPr>
              <a:t>Cyclistic</a:t>
            </a:r>
            <a:r>
              <a:rPr lang="pl-PL" dirty="0">
                <a:effectLst/>
              </a:rPr>
              <a:t> </a:t>
            </a:r>
            <a:r>
              <a:rPr lang="pl-PL" dirty="0" err="1">
                <a:effectLst/>
              </a:rPr>
              <a:t>bikes</a:t>
            </a:r>
            <a:r>
              <a:rPr lang="pl-PL" dirty="0">
                <a:effectLst/>
              </a:rPr>
              <a:t>.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70094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71242-0701-792E-0BEC-6D303EB7E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B6A327-2678-8497-553F-906F651D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381" y="2632673"/>
            <a:ext cx="10955238" cy="1592653"/>
          </a:xfrm>
        </p:spPr>
        <p:txBody>
          <a:bodyPr anchor="b">
            <a:normAutofit/>
          </a:bodyPr>
          <a:lstStyle/>
          <a:p>
            <a:r>
              <a:rPr lang="pl-PL" dirty="0" err="1"/>
              <a:t>Framing</a:t>
            </a:r>
            <a:r>
              <a:rPr lang="pl-PL" dirty="0"/>
              <a:t> &amp; </a:t>
            </a:r>
            <a:r>
              <a:rPr lang="pl-PL" dirty="0" err="1"/>
              <a:t>methodology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212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70A097-381F-54A0-6090-6752FF18A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anchor="t">
            <a:normAutofit/>
          </a:bodyPr>
          <a:lstStyle/>
          <a:p>
            <a:r>
              <a:rPr lang="pl-PL" dirty="0" err="1"/>
              <a:t>Framing</a:t>
            </a:r>
            <a:r>
              <a:rPr lang="pl-PL" dirty="0"/>
              <a:t> &amp; </a:t>
            </a:r>
            <a:r>
              <a:rPr lang="pl-PL" dirty="0" err="1"/>
              <a:t>methodology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3BFFADD-F332-71E8-B9D4-93274BA0FF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/>
              <a:t>Timeframe: </a:t>
            </a:r>
            <a:r>
              <a:rPr lang="pl-PL" b="1"/>
              <a:t>September 2024 – August 2025</a:t>
            </a:r>
            <a:r>
              <a:rPr lang="pl-PL"/>
              <a:t> (trips starting before 2024-09-01 excluded).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/>
              <a:t>Tools: all analysis was done in SQL on a cleaned dataset, then exported to Excel/Tableau for visualization.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/>
              <a:t>Key cleaning rules:</a:t>
            </a:r>
          </a:p>
          <a:p>
            <a:pPr marL="800100" lvl="1" indent="-342900"/>
            <a:r>
              <a:rPr lang="pl-PL" sz="1800" err="1"/>
              <a:t>Removed</a:t>
            </a:r>
            <a:r>
              <a:rPr lang="pl-PL" sz="1800"/>
              <a:t> </a:t>
            </a:r>
            <a:r>
              <a:rPr lang="pl-PL" sz="1800" err="1"/>
              <a:t>trips</a:t>
            </a:r>
            <a:r>
              <a:rPr lang="pl-PL" sz="1800"/>
              <a:t> &lt; 60 </a:t>
            </a:r>
            <a:r>
              <a:rPr lang="pl-PL" sz="1800" err="1"/>
              <a:t>seconds</a:t>
            </a:r>
            <a:r>
              <a:rPr lang="pl-PL" sz="1800"/>
              <a:t> and </a:t>
            </a:r>
            <a:r>
              <a:rPr lang="pl-PL" sz="1800" err="1"/>
              <a:t>negative</a:t>
            </a:r>
            <a:r>
              <a:rPr lang="pl-PL" sz="1800"/>
              <a:t> </a:t>
            </a:r>
            <a:r>
              <a:rPr lang="pl-PL" sz="1800" err="1"/>
              <a:t>durations</a:t>
            </a:r>
            <a:r>
              <a:rPr lang="pl-PL" sz="1800"/>
              <a:t>.</a:t>
            </a:r>
          </a:p>
          <a:p>
            <a:pPr marL="800100" lvl="1" indent="-342900"/>
            <a:r>
              <a:rPr lang="pl-PL" sz="1800" err="1"/>
              <a:t>Retained</a:t>
            </a:r>
            <a:r>
              <a:rPr lang="pl-PL" sz="1800"/>
              <a:t> </a:t>
            </a:r>
            <a:r>
              <a:rPr lang="pl-PL" sz="1800" err="1"/>
              <a:t>legitimate</a:t>
            </a:r>
            <a:r>
              <a:rPr lang="pl-PL" sz="1800"/>
              <a:t> </a:t>
            </a:r>
            <a:r>
              <a:rPr lang="pl-PL" sz="1800" err="1"/>
              <a:t>long-duration</a:t>
            </a:r>
            <a:r>
              <a:rPr lang="pl-PL" sz="1800"/>
              <a:t> </a:t>
            </a:r>
            <a:r>
              <a:rPr lang="pl-PL" sz="1800" err="1"/>
              <a:t>rides</a:t>
            </a:r>
            <a:r>
              <a:rPr lang="pl-PL" sz="1800"/>
              <a:t>.</a:t>
            </a:r>
          </a:p>
          <a:p>
            <a:pPr marL="800100" lvl="1" indent="-342900"/>
            <a:r>
              <a:rPr lang="pl-PL" sz="1800" err="1"/>
              <a:t>Added</a:t>
            </a:r>
            <a:r>
              <a:rPr lang="pl-PL" sz="1800"/>
              <a:t> </a:t>
            </a:r>
            <a:r>
              <a:rPr lang="pl-PL" sz="1800" err="1"/>
              <a:t>key</a:t>
            </a:r>
            <a:r>
              <a:rPr lang="pl-PL" sz="1800"/>
              <a:t> </a:t>
            </a:r>
            <a:r>
              <a:rPr lang="pl-PL" sz="1800" err="1"/>
              <a:t>derived</a:t>
            </a:r>
            <a:r>
              <a:rPr lang="pl-PL" sz="1800"/>
              <a:t> </a:t>
            </a:r>
            <a:r>
              <a:rPr lang="pl-PL" sz="1800" err="1"/>
              <a:t>fields</a:t>
            </a:r>
            <a:r>
              <a:rPr lang="pl-PL" sz="1800"/>
              <a:t> (</a:t>
            </a:r>
            <a:r>
              <a:rPr lang="pl-PL" sz="1800" err="1"/>
              <a:t>ride_length_min</a:t>
            </a:r>
            <a:r>
              <a:rPr lang="pl-PL" sz="1800"/>
              <a:t>, </a:t>
            </a:r>
            <a:r>
              <a:rPr lang="pl-PL" sz="1800" err="1"/>
              <a:t>weekday</a:t>
            </a:r>
            <a:r>
              <a:rPr lang="pl-PL" sz="1800"/>
              <a:t>/weekend, </a:t>
            </a:r>
            <a:r>
              <a:rPr lang="pl-PL" sz="1800" err="1"/>
              <a:t>daypart</a:t>
            </a:r>
            <a:r>
              <a:rPr lang="pl-PL" sz="1800"/>
              <a:t>, </a:t>
            </a:r>
            <a:r>
              <a:rPr lang="pl-PL" sz="1800" err="1"/>
              <a:t>month</a:t>
            </a:r>
            <a:r>
              <a:rPr lang="pl-PL" sz="1800"/>
              <a:t>, </a:t>
            </a:r>
            <a:r>
              <a:rPr lang="pl-PL" sz="1800" err="1"/>
              <a:t>bike</a:t>
            </a:r>
            <a:r>
              <a:rPr lang="pl-PL" sz="1800"/>
              <a:t> </a:t>
            </a:r>
            <a:r>
              <a:rPr lang="pl-PL" sz="1800" err="1"/>
              <a:t>type</a:t>
            </a:r>
            <a:r>
              <a:rPr lang="pl-PL" sz="1800"/>
              <a:t>, etc.).Focus: </a:t>
            </a:r>
            <a:r>
              <a:rPr lang="pl-PL" sz="1800" err="1"/>
              <a:t>comparison</a:t>
            </a:r>
            <a:r>
              <a:rPr lang="pl-PL" sz="1800"/>
              <a:t> of </a:t>
            </a:r>
            <a:r>
              <a:rPr lang="pl-PL" sz="1800" b="1" err="1"/>
              <a:t>members</a:t>
            </a:r>
            <a:r>
              <a:rPr lang="pl-PL" sz="1800" b="1"/>
              <a:t> vs </a:t>
            </a:r>
            <a:r>
              <a:rPr lang="pl-PL" sz="1800" b="1" err="1"/>
              <a:t>casuals</a:t>
            </a:r>
            <a:r>
              <a:rPr lang="pl-PL" sz="18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/>
              <a:t>Focus: comparison of </a:t>
            </a:r>
            <a:r>
              <a:rPr lang="pl-PL" b="1"/>
              <a:t>members vs casuals</a:t>
            </a:r>
            <a:r>
              <a:rPr lang="pl-PL"/>
              <a:t>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43941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AB751-0F0F-CA93-E948-47D2C4813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4539B3-4AA1-E042-F3C5-6C1225349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10718498" cy="1801682"/>
          </a:xfrm>
        </p:spPr>
        <p:txBody>
          <a:bodyPr anchor="b">
            <a:normAutofit/>
          </a:bodyPr>
          <a:lstStyle/>
          <a:p>
            <a:r>
              <a:rPr lang="en-GB" dirty="0"/>
              <a:t>Present data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66209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9FF8B2-56B9-D1F6-45D7-C652C631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/>
          <a:p>
            <a:r>
              <a:rPr lang="pl-PL" dirty="0" err="1"/>
              <a:t>Monthly</a:t>
            </a:r>
            <a:r>
              <a:rPr lang="pl-PL" dirty="0"/>
              <a:t> </a:t>
            </a:r>
            <a:r>
              <a:rPr lang="pl-PL" dirty="0" err="1"/>
              <a:t>trends</a:t>
            </a:r>
            <a:endParaRPr lang="pl-PL" dirty="0"/>
          </a:p>
        </p:txBody>
      </p:sp>
      <p:graphicFrame>
        <p:nvGraphicFramePr>
          <p:cNvPr id="13" name="Wykres 12">
            <a:extLst>
              <a:ext uri="{FF2B5EF4-FFF2-40B4-BE49-F238E27FC236}">
                <a16:creationId xmlns:a16="http://schemas.microsoft.com/office/drawing/2014/main" id="{E952EC7E-1CF0-93F3-9D25-3F36460373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1570966"/>
              </p:ext>
            </p:extLst>
          </p:nvPr>
        </p:nvGraphicFramePr>
        <p:xfrm>
          <a:off x="3922776" y="2240280"/>
          <a:ext cx="7349947" cy="3721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376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128BD-A1DA-E37D-A196-D4B8035F2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8FD2D4-F37B-C380-5099-2540E538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/>
          <a:p>
            <a:r>
              <a:rPr lang="pl-PL" dirty="0" err="1"/>
              <a:t>Monthly</a:t>
            </a:r>
            <a:r>
              <a:rPr lang="pl-PL" dirty="0"/>
              <a:t> </a:t>
            </a:r>
            <a:r>
              <a:rPr lang="pl-PL" dirty="0" err="1"/>
              <a:t>trends</a:t>
            </a:r>
            <a:endParaRPr lang="pl-PL" dirty="0"/>
          </a:p>
        </p:txBody>
      </p:sp>
      <p:graphicFrame>
        <p:nvGraphicFramePr>
          <p:cNvPr id="13" name="Wykres 12">
            <a:extLst>
              <a:ext uri="{FF2B5EF4-FFF2-40B4-BE49-F238E27FC236}">
                <a16:creationId xmlns:a16="http://schemas.microsoft.com/office/drawing/2014/main" id="{67B539D6-DCB5-6E4B-7757-AD2F34E7337D}"/>
              </a:ext>
            </a:extLst>
          </p:cNvPr>
          <p:cNvGraphicFramePr>
            <a:graphicFrameLocks/>
          </p:cNvGraphicFramePr>
          <p:nvPr/>
        </p:nvGraphicFramePr>
        <p:xfrm>
          <a:off x="3922776" y="2240280"/>
          <a:ext cx="7349947" cy="3721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pole tekstowe 2">
            <a:extLst>
              <a:ext uri="{FF2B5EF4-FFF2-40B4-BE49-F238E27FC236}">
                <a16:creationId xmlns:a16="http://schemas.microsoft.com/office/drawing/2014/main" id="{3D6A4706-656F-FB9A-65B2-70E03C3F6FD7}"/>
              </a:ext>
            </a:extLst>
          </p:cNvPr>
          <p:cNvSpPr txBox="1"/>
          <p:nvPr/>
        </p:nvSpPr>
        <p:spPr>
          <a:xfrm>
            <a:off x="612648" y="2240280"/>
            <a:ext cx="30068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Members</a:t>
            </a:r>
            <a:r>
              <a:rPr lang="pl-PL" dirty="0"/>
              <a:t> </a:t>
            </a:r>
            <a:r>
              <a:rPr lang="pl-PL" b="1" dirty="0" err="1"/>
              <a:t>always</a:t>
            </a:r>
            <a:r>
              <a:rPr lang="pl-PL" b="1" dirty="0"/>
              <a:t> </a:t>
            </a:r>
            <a:r>
              <a:rPr lang="pl-PL" b="1" dirty="0" err="1"/>
              <a:t>ride</a:t>
            </a:r>
            <a:r>
              <a:rPr lang="pl-PL" b="1" dirty="0"/>
              <a:t> </a:t>
            </a:r>
            <a:r>
              <a:rPr lang="pl-PL" b="1" dirty="0" err="1"/>
              <a:t>more</a:t>
            </a:r>
            <a:r>
              <a:rPr lang="pl-PL" dirty="0"/>
              <a:t> </a:t>
            </a:r>
            <a:r>
              <a:rPr lang="pl-PL" dirty="0" err="1"/>
              <a:t>than</a:t>
            </a:r>
            <a:r>
              <a:rPr lang="pl-PL" dirty="0"/>
              <a:t> </a:t>
            </a:r>
            <a:r>
              <a:rPr lang="pl-PL" dirty="0" err="1"/>
              <a:t>casuals</a:t>
            </a:r>
            <a:r>
              <a:rPr lang="pl-PL" dirty="0"/>
              <a:t> in </a:t>
            </a:r>
            <a:r>
              <a:rPr lang="pl-PL" dirty="0" err="1"/>
              <a:t>every</a:t>
            </a:r>
            <a:r>
              <a:rPr lang="pl-PL" dirty="0"/>
              <a:t> </a:t>
            </a:r>
            <a:r>
              <a:rPr lang="pl-PL" dirty="0" err="1"/>
              <a:t>month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32911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8802-67F9-80BD-8EAB-EF799F69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7BC59B-7DA3-2CFC-E661-B0B5B2977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/>
          <a:p>
            <a:r>
              <a:rPr lang="pl-PL" dirty="0" err="1"/>
              <a:t>Monthly</a:t>
            </a:r>
            <a:r>
              <a:rPr lang="pl-PL" dirty="0"/>
              <a:t> </a:t>
            </a:r>
            <a:r>
              <a:rPr lang="pl-PL" dirty="0" err="1"/>
              <a:t>trends</a:t>
            </a:r>
            <a:endParaRPr lang="pl-PL" dirty="0"/>
          </a:p>
        </p:txBody>
      </p:sp>
      <p:graphicFrame>
        <p:nvGraphicFramePr>
          <p:cNvPr id="13" name="Wykres 12">
            <a:extLst>
              <a:ext uri="{FF2B5EF4-FFF2-40B4-BE49-F238E27FC236}">
                <a16:creationId xmlns:a16="http://schemas.microsoft.com/office/drawing/2014/main" id="{4BAB4AB4-6AB9-3D95-BAB9-B9CDEEAD5D25}"/>
              </a:ext>
            </a:extLst>
          </p:cNvPr>
          <p:cNvGraphicFramePr>
            <a:graphicFrameLocks/>
          </p:cNvGraphicFramePr>
          <p:nvPr/>
        </p:nvGraphicFramePr>
        <p:xfrm>
          <a:off x="3922776" y="2240280"/>
          <a:ext cx="7349947" cy="3721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pole tekstowe 2">
            <a:extLst>
              <a:ext uri="{FF2B5EF4-FFF2-40B4-BE49-F238E27FC236}">
                <a16:creationId xmlns:a16="http://schemas.microsoft.com/office/drawing/2014/main" id="{D0B26A18-B20D-EF90-D3AB-9BE7C0FF8283}"/>
              </a:ext>
            </a:extLst>
          </p:cNvPr>
          <p:cNvSpPr txBox="1"/>
          <p:nvPr/>
        </p:nvSpPr>
        <p:spPr>
          <a:xfrm>
            <a:off x="612648" y="2240280"/>
            <a:ext cx="30068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Members</a:t>
            </a:r>
            <a:r>
              <a:rPr lang="pl-PL" dirty="0"/>
              <a:t> </a:t>
            </a:r>
            <a:r>
              <a:rPr lang="pl-PL" b="1" dirty="0" err="1"/>
              <a:t>always</a:t>
            </a:r>
            <a:r>
              <a:rPr lang="pl-PL" b="1" dirty="0"/>
              <a:t> </a:t>
            </a:r>
            <a:r>
              <a:rPr lang="pl-PL" b="1" dirty="0" err="1"/>
              <a:t>ride</a:t>
            </a:r>
            <a:r>
              <a:rPr lang="pl-PL" b="1" dirty="0"/>
              <a:t> </a:t>
            </a:r>
            <a:r>
              <a:rPr lang="pl-PL" b="1" dirty="0" err="1"/>
              <a:t>more</a:t>
            </a:r>
            <a:r>
              <a:rPr lang="pl-PL" dirty="0"/>
              <a:t> </a:t>
            </a:r>
            <a:r>
              <a:rPr lang="pl-PL" dirty="0" err="1"/>
              <a:t>than</a:t>
            </a:r>
            <a:r>
              <a:rPr lang="pl-PL" dirty="0"/>
              <a:t> </a:t>
            </a:r>
            <a:r>
              <a:rPr lang="pl-PL" dirty="0" err="1"/>
              <a:t>casuals</a:t>
            </a:r>
            <a:r>
              <a:rPr lang="pl-PL" dirty="0"/>
              <a:t> in </a:t>
            </a:r>
            <a:r>
              <a:rPr lang="pl-PL" dirty="0" err="1"/>
              <a:t>every</a:t>
            </a:r>
            <a:r>
              <a:rPr lang="pl-PL" dirty="0"/>
              <a:t> </a:t>
            </a:r>
            <a:r>
              <a:rPr lang="pl-PL" dirty="0" err="1"/>
              <a:t>month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Largest</a:t>
            </a:r>
            <a:r>
              <a:rPr lang="pl-PL" dirty="0"/>
              <a:t> gap </a:t>
            </a:r>
            <a:r>
              <a:rPr lang="pl-PL" dirty="0" err="1"/>
              <a:t>appears</a:t>
            </a:r>
            <a:r>
              <a:rPr lang="pl-PL" dirty="0"/>
              <a:t> in </a:t>
            </a:r>
            <a:r>
              <a:rPr lang="pl-PL" b="1" dirty="0" err="1"/>
              <a:t>September</a:t>
            </a:r>
            <a:r>
              <a:rPr lang="pl-PL" b="1" dirty="0"/>
              <a:t>–</a:t>
            </a:r>
            <a:r>
              <a:rPr lang="pl-PL" b="1" dirty="0" err="1"/>
              <a:t>October</a:t>
            </a:r>
            <a:r>
              <a:rPr lang="pl-PL" dirty="0"/>
              <a:t> — </a:t>
            </a:r>
            <a:r>
              <a:rPr lang="pl-PL" dirty="0" err="1"/>
              <a:t>members</a:t>
            </a:r>
            <a:r>
              <a:rPr lang="pl-PL" dirty="0"/>
              <a:t> </a:t>
            </a:r>
            <a:r>
              <a:rPr lang="pl-PL" dirty="0" err="1"/>
              <a:t>stay</a:t>
            </a:r>
            <a:r>
              <a:rPr lang="pl-PL" dirty="0"/>
              <a:t> </a:t>
            </a:r>
            <a:r>
              <a:rPr lang="pl-PL" dirty="0" err="1"/>
              <a:t>active</a:t>
            </a:r>
            <a:r>
              <a:rPr lang="pl-PL" dirty="0"/>
              <a:t> </a:t>
            </a:r>
            <a:r>
              <a:rPr lang="pl-PL" dirty="0" err="1"/>
              <a:t>longer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78829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08FC4-BC15-BE00-4222-CFB531F5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8D3742-2AE9-59F1-3977-8CF3411F7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/>
          <a:p>
            <a:r>
              <a:rPr lang="pl-PL" dirty="0" err="1"/>
              <a:t>Monthly</a:t>
            </a:r>
            <a:r>
              <a:rPr lang="pl-PL" dirty="0"/>
              <a:t> </a:t>
            </a:r>
            <a:r>
              <a:rPr lang="pl-PL" dirty="0" err="1"/>
              <a:t>trends</a:t>
            </a:r>
            <a:endParaRPr lang="pl-PL" dirty="0"/>
          </a:p>
        </p:txBody>
      </p:sp>
      <p:graphicFrame>
        <p:nvGraphicFramePr>
          <p:cNvPr id="13" name="Wykres 12">
            <a:extLst>
              <a:ext uri="{FF2B5EF4-FFF2-40B4-BE49-F238E27FC236}">
                <a16:creationId xmlns:a16="http://schemas.microsoft.com/office/drawing/2014/main" id="{83D64E9E-C4DB-4B5D-F4FE-FB65E72C7410}"/>
              </a:ext>
            </a:extLst>
          </p:cNvPr>
          <p:cNvGraphicFramePr>
            <a:graphicFrameLocks/>
          </p:cNvGraphicFramePr>
          <p:nvPr/>
        </p:nvGraphicFramePr>
        <p:xfrm>
          <a:off x="3922776" y="2240280"/>
          <a:ext cx="7349947" cy="3721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pole tekstowe 2">
            <a:extLst>
              <a:ext uri="{FF2B5EF4-FFF2-40B4-BE49-F238E27FC236}">
                <a16:creationId xmlns:a16="http://schemas.microsoft.com/office/drawing/2014/main" id="{B48E8008-2219-CA1C-D9CD-BDB64D0C37D1}"/>
              </a:ext>
            </a:extLst>
          </p:cNvPr>
          <p:cNvSpPr txBox="1"/>
          <p:nvPr/>
        </p:nvSpPr>
        <p:spPr>
          <a:xfrm>
            <a:off x="612648" y="2240280"/>
            <a:ext cx="30068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Members</a:t>
            </a:r>
            <a:r>
              <a:rPr lang="pl-PL" dirty="0"/>
              <a:t> </a:t>
            </a:r>
            <a:r>
              <a:rPr lang="pl-PL" b="1" dirty="0" err="1"/>
              <a:t>always</a:t>
            </a:r>
            <a:r>
              <a:rPr lang="pl-PL" b="1" dirty="0"/>
              <a:t> </a:t>
            </a:r>
            <a:r>
              <a:rPr lang="pl-PL" b="1" dirty="0" err="1"/>
              <a:t>ride</a:t>
            </a:r>
            <a:r>
              <a:rPr lang="pl-PL" b="1" dirty="0"/>
              <a:t> </a:t>
            </a:r>
            <a:r>
              <a:rPr lang="pl-PL" b="1" dirty="0" err="1"/>
              <a:t>more</a:t>
            </a:r>
            <a:r>
              <a:rPr lang="pl-PL" dirty="0"/>
              <a:t> </a:t>
            </a:r>
            <a:r>
              <a:rPr lang="pl-PL" dirty="0" err="1"/>
              <a:t>than</a:t>
            </a:r>
            <a:r>
              <a:rPr lang="pl-PL" dirty="0"/>
              <a:t> </a:t>
            </a:r>
            <a:r>
              <a:rPr lang="pl-PL" dirty="0" err="1"/>
              <a:t>casuals</a:t>
            </a:r>
            <a:r>
              <a:rPr lang="pl-PL" dirty="0"/>
              <a:t> in </a:t>
            </a:r>
            <a:r>
              <a:rPr lang="pl-PL" dirty="0" err="1"/>
              <a:t>every</a:t>
            </a:r>
            <a:r>
              <a:rPr lang="pl-PL" dirty="0"/>
              <a:t> </a:t>
            </a:r>
            <a:r>
              <a:rPr lang="pl-PL" dirty="0" err="1"/>
              <a:t>month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Largest</a:t>
            </a:r>
            <a:r>
              <a:rPr lang="pl-PL" dirty="0"/>
              <a:t> gap </a:t>
            </a:r>
            <a:r>
              <a:rPr lang="pl-PL" dirty="0" err="1"/>
              <a:t>appears</a:t>
            </a:r>
            <a:r>
              <a:rPr lang="pl-PL" dirty="0"/>
              <a:t> in </a:t>
            </a:r>
            <a:r>
              <a:rPr lang="pl-PL" b="1" dirty="0" err="1"/>
              <a:t>September</a:t>
            </a:r>
            <a:r>
              <a:rPr lang="pl-PL" b="1" dirty="0"/>
              <a:t>–</a:t>
            </a:r>
            <a:r>
              <a:rPr lang="pl-PL" b="1" dirty="0" err="1"/>
              <a:t>October</a:t>
            </a:r>
            <a:r>
              <a:rPr lang="pl-PL" dirty="0"/>
              <a:t> — </a:t>
            </a:r>
            <a:r>
              <a:rPr lang="pl-PL" dirty="0" err="1"/>
              <a:t>members</a:t>
            </a:r>
            <a:r>
              <a:rPr lang="pl-PL" dirty="0"/>
              <a:t> </a:t>
            </a:r>
            <a:r>
              <a:rPr lang="pl-PL" dirty="0" err="1"/>
              <a:t>stay</a:t>
            </a:r>
            <a:r>
              <a:rPr lang="pl-PL" dirty="0"/>
              <a:t> </a:t>
            </a:r>
            <a:r>
              <a:rPr lang="pl-PL" dirty="0" err="1"/>
              <a:t>active</a:t>
            </a:r>
            <a:r>
              <a:rPr lang="pl-PL" dirty="0"/>
              <a:t> </a:t>
            </a:r>
            <a:r>
              <a:rPr lang="pl-PL" dirty="0" err="1"/>
              <a:t>longer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Strong</a:t>
            </a:r>
            <a:r>
              <a:rPr lang="pl-PL" dirty="0"/>
              <a:t> </a:t>
            </a:r>
            <a:r>
              <a:rPr lang="pl-PL" dirty="0" err="1"/>
              <a:t>opportunity</a:t>
            </a:r>
            <a:r>
              <a:rPr lang="pl-PL" dirty="0"/>
              <a:t> to </a:t>
            </a:r>
            <a:r>
              <a:rPr lang="pl-PL" b="1" dirty="0" err="1"/>
              <a:t>convert</a:t>
            </a:r>
            <a:r>
              <a:rPr lang="pl-PL" b="1" dirty="0"/>
              <a:t> </a:t>
            </a:r>
            <a:r>
              <a:rPr lang="pl-PL" b="1" dirty="0" err="1"/>
              <a:t>casuals</a:t>
            </a:r>
            <a:r>
              <a:rPr lang="pl-PL" b="1" dirty="0"/>
              <a:t> to </a:t>
            </a:r>
            <a:r>
              <a:rPr lang="pl-PL" b="1" dirty="0" err="1"/>
              <a:t>members</a:t>
            </a:r>
            <a:r>
              <a:rPr lang="pl-PL" dirty="0"/>
              <a:t> </a:t>
            </a:r>
            <a:r>
              <a:rPr lang="pl-PL" dirty="0" err="1"/>
              <a:t>through</a:t>
            </a:r>
            <a:r>
              <a:rPr lang="pl-PL" dirty="0"/>
              <a:t> </a:t>
            </a:r>
            <a:r>
              <a:rPr lang="pl-PL" dirty="0" err="1"/>
              <a:t>seasonal</a:t>
            </a:r>
            <a:r>
              <a:rPr lang="pl-PL" dirty="0"/>
              <a:t> </a:t>
            </a:r>
            <a:r>
              <a:rPr lang="pl-PL" dirty="0" err="1"/>
              <a:t>promotions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92966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EACCF08-263B-010A-8A98-CC2E9BD0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/>
          <a:p>
            <a:r>
              <a:rPr lang="pl-PL" dirty="0" err="1"/>
              <a:t>Weekday</a:t>
            </a:r>
            <a:r>
              <a:rPr lang="pl-PL" dirty="0"/>
              <a:t> vs weekend</a:t>
            </a:r>
          </a:p>
        </p:txBody>
      </p:sp>
      <p:graphicFrame>
        <p:nvGraphicFramePr>
          <p:cNvPr id="4" name="Wykres 3">
            <a:extLst>
              <a:ext uri="{FF2B5EF4-FFF2-40B4-BE49-F238E27FC236}">
                <a16:creationId xmlns:a16="http://schemas.microsoft.com/office/drawing/2014/main" id="{C07D9900-F907-5FC7-8631-8CCA863D7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2353070"/>
              </p:ext>
            </p:extLst>
          </p:nvPr>
        </p:nvGraphicFramePr>
        <p:xfrm>
          <a:off x="3922776" y="2240280"/>
          <a:ext cx="7349947" cy="3721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712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9FCF7-0B25-EBC6-3B4C-654DB404A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F6F3F0-4F0D-C171-E8FB-ED6ABE48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/>
          <a:p>
            <a:r>
              <a:rPr lang="pl-PL" dirty="0" err="1"/>
              <a:t>Weekday</a:t>
            </a:r>
            <a:r>
              <a:rPr lang="pl-PL" dirty="0"/>
              <a:t> vs weekend</a:t>
            </a:r>
          </a:p>
        </p:txBody>
      </p:sp>
      <p:graphicFrame>
        <p:nvGraphicFramePr>
          <p:cNvPr id="4" name="Wykres 3">
            <a:extLst>
              <a:ext uri="{FF2B5EF4-FFF2-40B4-BE49-F238E27FC236}">
                <a16:creationId xmlns:a16="http://schemas.microsoft.com/office/drawing/2014/main" id="{0E9E49B6-72F6-2737-545F-15C29FA54B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5638681"/>
              </p:ext>
            </p:extLst>
          </p:nvPr>
        </p:nvGraphicFramePr>
        <p:xfrm>
          <a:off x="4314825" y="2240280"/>
          <a:ext cx="6957898" cy="35461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pole tekstowe 2">
            <a:extLst>
              <a:ext uri="{FF2B5EF4-FFF2-40B4-BE49-F238E27FC236}">
                <a16:creationId xmlns:a16="http://schemas.microsoft.com/office/drawing/2014/main" id="{53E5F043-495E-6A9E-88C4-D846B6E9BA67}"/>
              </a:ext>
            </a:extLst>
          </p:cNvPr>
          <p:cNvSpPr txBox="1"/>
          <p:nvPr/>
        </p:nvSpPr>
        <p:spPr>
          <a:xfrm>
            <a:off x="214313" y="2002536"/>
            <a:ext cx="41005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Clear</a:t>
            </a:r>
            <a:r>
              <a:rPr lang="pl-PL" dirty="0"/>
              <a:t> </a:t>
            </a:r>
            <a:r>
              <a:rPr lang="pl-PL" dirty="0" err="1"/>
              <a:t>behavioral</a:t>
            </a:r>
            <a:r>
              <a:rPr lang="pl-PL" dirty="0"/>
              <a:t> </a:t>
            </a:r>
            <a:r>
              <a:rPr lang="pl-PL" dirty="0" err="1"/>
              <a:t>difference</a:t>
            </a:r>
            <a:r>
              <a:rPr lang="pl-PL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 err="1"/>
              <a:t>Members</a:t>
            </a:r>
            <a:r>
              <a:rPr lang="pl-PL" b="1" dirty="0"/>
              <a:t> = </a:t>
            </a:r>
            <a:r>
              <a:rPr lang="pl-PL" b="1" dirty="0" err="1"/>
              <a:t>commuters</a:t>
            </a:r>
            <a:r>
              <a:rPr lang="pl-PL" dirty="0"/>
              <a:t> (</a:t>
            </a:r>
            <a:r>
              <a:rPr lang="pl-PL" dirty="0" err="1"/>
              <a:t>weekday</a:t>
            </a:r>
            <a:r>
              <a:rPr lang="pl-PL" dirty="0"/>
              <a:t> </a:t>
            </a:r>
            <a:r>
              <a:rPr lang="pl-PL" dirty="0" err="1"/>
              <a:t>focus</a:t>
            </a:r>
            <a:r>
              <a:rPr lang="pl-PL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 err="1"/>
              <a:t>Casuals</a:t>
            </a:r>
            <a:r>
              <a:rPr lang="pl-PL" b="1" dirty="0"/>
              <a:t> = </a:t>
            </a:r>
            <a:r>
              <a:rPr lang="pl-PL" b="1" dirty="0" err="1"/>
              <a:t>recreational</a:t>
            </a:r>
            <a:r>
              <a:rPr lang="pl-PL" b="1" dirty="0"/>
              <a:t> </a:t>
            </a:r>
            <a:r>
              <a:rPr lang="pl-PL" b="1" dirty="0" err="1"/>
              <a:t>riders</a:t>
            </a:r>
            <a:r>
              <a:rPr lang="pl-PL" dirty="0"/>
              <a:t> (weekend </a:t>
            </a:r>
            <a:r>
              <a:rPr lang="pl-PL" dirty="0" err="1"/>
              <a:t>focus</a:t>
            </a:r>
            <a:r>
              <a:rPr lang="pl-PL" dirty="0"/>
              <a:t>).</a:t>
            </a:r>
          </a:p>
          <a:p>
            <a:endParaRPr lang="pl-PL" dirty="0"/>
          </a:p>
          <a:p>
            <a:r>
              <a:rPr lang="pl-PL" dirty="0" err="1"/>
              <a:t>Opportunity</a:t>
            </a:r>
            <a:r>
              <a:rPr lang="pl-PL" dirty="0"/>
              <a:t>: </a:t>
            </a:r>
            <a:r>
              <a:rPr lang="pl-PL" dirty="0" err="1"/>
              <a:t>promote</a:t>
            </a:r>
            <a:r>
              <a:rPr lang="pl-PL" dirty="0"/>
              <a:t> </a:t>
            </a:r>
            <a:r>
              <a:rPr lang="pl-PL" b="1" dirty="0"/>
              <a:t>weekend </a:t>
            </a:r>
            <a:r>
              <a:rPr lang="pl-PL" b="1" dirty="0" err="1"/>
              <a:t>offers</a:t>
            </a:r>
            <a:r>
              <a:rPr lang="pl-PL" dirty="0"/>
              <a:t> to </a:t>
            </a:r>
            <a:r>
              <a:rPr lang="pl-PL" dirty="0" err="1"/>
              <a:t>convert</a:t>
            </a:r>
            <a:r>
              <a:rPr lang="pl-PL" dirty="0"/>
              <a:t> </a:t>
            </a:r>
            <a:r>
              <a:rPr lang="pl-PL" dirty="0" err="1"/>
              <a:t>casuals</a:t>
            </a:r>
            <a:r>
              <a:rPr lang="pl-PL" dirty="0"/>
              <a:t> </a:t>
            </a:r>
            <a:r>
              <a:rPr lang="pl-PL" dirty="0" err="1"/>
              <a:t>into</a:t>
            </a:r>
            <a:r>
              <a:rPr lang="pl-PL" dirty="0"/>
              <a:t> </a:t>
            </a:r>
            <a:r>
              <a:rPr lang="pl-PL" dirty="0" err="1"/>
              <a:t>regular</a:t>
            </a:r>
            <a:r>
              <a:rPr lang="pl-PL" dirty="0"/>
              <a:t> </a:t>
            </a:r>
            <a:r>
              <a:rPr lang="pl-PL" dirty="0" err="1"/>
              <a:t>members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929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DAABA-9083-DB69-6F15-4B893B17C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/>
          <a:p>
            <a:r>
              <a:rPr lang="pl-PL" dirty="0" err="1"/>
              <a:t>Daypart</a:t>
            </a:r>
            <a:endParaRPr lang="pl-PL" dirty="0"/>
          </a:p>
        </p:txBody>
      </p:sp>
      <p:graphicFrame>
        <p:nvGraphicFramePr>
          <p:cNvPr id="4" name="Wykres 3">
            <a:extLst>
              <a:ext uri="{FF2B5EF4-FFF2-40B4-BE49-F238E27FC236}">
                <a16:creationId xmlns:a16="http://schemas.microsoft.com/office/drawing/2014/main" id="{D47A587D-AF09-382E-01CF-63ABEBB2BB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2448105"/>
              </p:ext>
            </p:extLst>
          </p:nvPr>
        </p:nvGraphicFramePr>
        <p:xfrm>
          <a:off x="3922776" y="2240280"/>
          <a:ext cx="7349947" cy="3721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46965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86BE3-6FC6-553A-1828-E0DB315E3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F5D5E0-3378-294E-09A2-FD0719570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/>
          <a:p>
            <a:r>
              <a:rPr lang="pl-PL" dirty="0" err="1"/>
              <a:t>Daypart</a:t>
            </a:r>
            <a:endParaRPr lang="pl-PL" dirty="0"/>
          </a:p>
        </p:txBody>
      </p:sp>
      <p:graphicFrame>
        <p:nvGraphicFramePr>
          <p:cNvPr id="4" name="Wykres 3">
            <a:extLst>
              <a:ext uri="{FF2B5EF4-FFF2-40B4-BE49-F238E27FC236}">
                <a16:creationId xmlns:a16="http://schemas.microsoft.com/office/drawing/2014/main" id="{4D80F379-C23D-5A60-36E4-7F3C1C2C67F7}"/>
              </a:ext>
            </a:extLst>
          </p:cNvPr>
          <p:cNvGraphicFramePr>
            <a:graphicFrameLocks/>
          </p:cNvGraphicFramePr>
          <p:nvPr/>
        </p:nvGraphicFramePr>
        <p:xfrm>
          <a:off x="3922776" y="2240280"/>
          <a:ext cx="7349947" cy="3721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pole tekstowe 2">
            <a:extLst>
              <a:ext uri="{FF2B5EF4-FFF2-40B4-BE49-F238E27FC236}">
                <a16:creationId xmlns:a16="http://schemas.microsoft.com/office/drawing/2014/main" id="{AFF9F0D6-8307-ABE2-89D3-94574CF6046F}"/>
              </a:ext>
            </a:extLst>
          </p:cNvPr>
          <p:cNvSpPr txBox="1"/>
          <p:nvPr/>
        </p:nvSpPr>
        <p:spPr>
          <a:xfrm>
            <a:off x="357188" y="2240280"/>
            <a:ext cx="34004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Members</a:t>
            </a:r>
            <a:r>
              <a:rPr lang="pl-PL" dirty="0"/>
              <a:t> = </a:t>
            </a:r>
            <a:r>
              <a:rPr lang="pl-PL" dirty="0" err="1"/>
              <a:t>structured</a:t>
            </a:r>
            <a:r>
              <a:rPr lang="pl-PL" dirty="0"/>
              <a:t>, </a:t>
            </a:r>
            <a:r>
              <a:rPr lang="pl-PL" dirty="0" err="1"/>
              <a:t>commuter</a:t>
            </a:r>
            <a:r>
              <a:rPr lang="pl-PL" dirty="0"/>
              <a:t>-style </a:t>
            </a:r>
            <a:r>
              <a:rPr lang="pl-PL" dirty="0" err="1"/>
              <a:t>riding</a:t>
            </a:r>
            <a:r>
              <a:rPr lang="pl-PL" dirty="0"/>
              <a:t> (</a:t>
            </a:r>
            <a:r>
              <a:rPr lang="pl-PL" dirty="0" err="1"/>
              <a:t>rush</a:t>
            </a:r>
            <a:r>
              <a:rPr lang="pl-PL" dirty="0"/>
              <a:t> </a:t>
            </a:r>
            <a:r>
              <a:rPr lang="pl-PL" dirty="0" err="1"/>
              <a:t>hours</a:t>
            </a:r>
            <a:r>
              <a:rPr lang="pl-PL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Casuals</a:t>
            </a:r>
            <a:r>
              <a:rPr lang="pl-PL" dirty="0"/>
              <a:t> = </a:t>
            </a:r>
            <a:r>
              <a:rPr lang="pl-PL" dirty="0" err="1"/>
              <a:t>flexible</a:t>
            </a:r>
            <a:r>
              <a:rPr lang="pl-PL" dirty="0"/>
              <a:t>, </a:t>
            </a:r>
            <a:r>
              <a:rPr lang="pl-PL" dirty="0" err="1"/>
              <a:t>leisure-oriented</a:t>
            </a:r>
            <a:r>
              <a:rPr lang="pl-PL" dirty="0"/>
              <a:t> </a:t>
            </a:r>
            <a:r>
              <a:rPr lang="pl-PL" dirty="0" err="1"/>
              <a:t>riding</a:t>
            </a:r>
            <a:r>
              <a:rPr lang="pl-PL" dirty="0"/>
              <a:t> (</a:t>
            </a:r>
            <a:r>
              <a:rPr lang="pl-PL" dirty="0" err="1"/>
              <a:t>midday</a:t>
            </a:r>
            <a:r>
              <a:rPr lang="pl-PL" dirty="0"/>
              <a:t> </a:t>
            </a:r>
            <a:r>
              <a:rPr lang="pl-PL" dirty="0" err="1"/>
              <a:t>focus</a:t>
            </a:r>
            <a:r>
              <a:rPr lang="pl-PL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Insights</a:t>
            </a:r>
            <a:r>
              <a:rPr lang="pl-PL" dirty="0"/>
              <a:t> </a:t>
            </a:r>
            <a:r>
              <a:rPr lang="pl-PL" dirty="0" err="1"/>
              <a:t>can</a:t>
            </a:r>
            <a:r>
              <a:rPr lang="pl-PL" dirty="0"/>
              <a:t> </a:t>
            </a:r>
            <a:r>
              <a:rPr lang="pl-PL" dirty="0" err="1"/>
              <a:t>help</a:t>
            </a:r>
            <a:r>
              <a:rPr lang="pl-PL" dirty="0"/>
              <a:t> </a:t>
            </a:r>
            <a:r>
              <a:rPr lang="pl-PL" dirty="0" err="1"/>
              <a:t>tailor</a:t>
            </a:r>
            <a:r>
              <a:rPr lang="pl-PL" dirty="0"/>
              <a:t> </a:t>
            </a:r>
            <a:r>
              <a:rPr lang="pl-PL" b="1" dirty="0" err="1"/>
              <a:t>targeted</a:t>
            </a:r>
            <a:r>
              <a:rPr lang="pl-PL" b="1" dirty="0"/>
              <a:t> </a:t>
            </a:r>
            <a:r>
              <a:rPr lang="pl-PL" b="1" dirty="0" err="1"/>
              <a:t>campaigns</a:t>
            </a:r>
            <a:r>
              <a:rPr lang="pl-PL" dirty="0"/>
              <a:t> — </a:t>
            </a:r>
            <a:r>
              <a:rPr lang="pl-PL" dirty="0" err="1"/>
              <a:t>e.g</a:t>
            </a:r>
            <a:r>
              <a:rPr lang="pl-PL" dirty="0"/>
              <a:t>., </a:t>
            </a:r>
            <a:r>
              <a:rPr lang="pl-PL" dirty="0" err="1"/>
              <a:t>encourage</a:t>
            </a:r>
            <a:r>
              <a:rPr lang="pl-PL" dirty="0"/>
              <a:t> </a:t>
            </a:r>
            <a:r>
              <a:rPr lang="pl-PL" dirty="0" err="1"/>
              <a:t>casuals</a:t>
            </a:r>
            <a:r>
              <a:rPr lang="pl-PL" dirty="0"/>
              <a:t> to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bikes</a:t>
            </a:r>
            <a:r>
              <a:rPr lang="pl-PL" dirty="0"/>
              <a:t> for </a:t>
            </a:r>
            <a:r>
              <a:rPr lang="pl-PL" dirty="0" err="1"/>
              <a:t>weekday</a:t>
            </a:r>
            <a:r>
              <a:rPr lang="pl-PL" dirty="0"/>
              <a:t> </a:t>
            </a:r>
            <a:r>
              <a:rPr lang="pl-PL" dirty="0" err="1"/>
              <a:t>commutes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6966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2F49C8-4292-131B-062D-364C5ADB7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/>
          <a:p>
            <a:r>
              <a:rPr lang="pl-PL" dirty="0" err="1"/>
              <a:t>Bike</a:t>
            </a:r>
            <a:r>
              <a:rPr lang="pl-PL" dirty="0"/>
              <a:t> </a:t>
            </a:r>
            <a:r>
              <a:rPr lang="pl-PL" dirty="0" err="1"/>
              <a:t>type</a:t>
            </a:r>
            <a:endParaRPr lang="pl-PL" dirty="0"/>
          </a:p>
        </p:txBody>
      </p:sp>
      <p:graphicFrame>
        <p:nvGraphicFramePr>
          <p:cNvPr id="4" name="Wykres 3">
            <a:extLst>
              <a:ext uri="{FF2B5EF4-FFF2-40B4-BE49-F238E27FC236}">
                <a16:creationId xmlns:a16="http://schemas.microsoft.com/office/drawing/2014/main" id="{657E5C7E-2513-EC2E-2BF7-53B38EA221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3519054"/>
              </p:ext>
            </p:extLst>
          </p:nvPr>
        </p:nvGraphicFramePr>
        <p:xfrm>
          <a:off x="3922776" y="2240280"/>
          <a:ext cx="7349947" cy="3721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15804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F9016-89F7-824F-1DCE-C73E7987E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308A1C-65A3-7BF2-44A9-EE8CA8FE1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/>
          <a:p>
            <a:r>
              <a:rPr lang="pl-PL" dirty="0" err="1"/>
              <a:t>Bike</a:t>
            </a:r>
            <a:r>
              <a:rPr lang="pl-PL" dirty="0"/>
              <a:t> </a:t>
            </a:r>
            <a:r>
              <a:rPr lang="pl-PL" dirty="0" err="1"/>
              <a:t>type</a:t>
            </a:r>
            <a:endParaRPr lang="pl-PL" dirty="0"/>
          </a:p>
        </p:txBody>
      </p:sp>
      <p:graphicFrame>
        <p:nvGraphicFramePr>
          <p:cNvPr id="4" name="Wykres 3">
            <a:extLst>
              <a:ext uri="{FF2B5EF4-FFF2-40B4-BE49-F238E27FC236}">
                <a16:creationId xmlns:a16="http://schemas.microsoft.com/office/drawing/2014/main" id="{4374DAC6-5A49-EA65-E461-C229AB7FE462}"/>
              </a:ext>
            </a:extLst>
          </p:cNvPr>
          <p:cNvGraphicFramePr>
            <a:graphicFrameLocks/>
          </p:cNvGraphicFramePr>
          <p:nvPr/>
        </p:nvGraphicFramePr>
        <p:xfrm>
          <a:off x="3922776" y="2240280"/>
          <a:ext cx="7349947" cy="3721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pole tekstowe 2">
            <a:extLst>
              <a:ext uri="{FF2B5EF4-FFF2-40B4-BE49-F238E27FC236}">
                <a16:creationId xmlns:a16="http://schemas.microsoft.com/office/drawing/2014/main" id="{9B4FB4F3-C221-AD30-E588-E28032C7DFC5}"/>
              </a:ext>
            </a:extLst>
          </p:cNvPr>
          <p:cNvSpPr txBox="1"/>
          <p:nvPr/>
        </p:nvSpPr>
        <p:spPr>
          <a:xfrm>
            <a:off x="612647" y="2002536"/>
            <a:ext cx="29592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Members</a:t>
            </a:r>
            <a:r>
              <a:rPr lang="pl-PL" dirty="0"/>
              <a:t> = </a:t>
            </a:r>
            <a:r>
              <a:rPr lang="pl-PL" dirty="0" err="1"/>
              <a:t>classic</a:t>
            </a:r>
            <a:r>
              <a:rPr lang="pl-PL" dirty="0"/>
              <a:t> </a:t>
            </a:r>
            <a:r>
              <a:rPr lang="pl-PL" dirty="0" err="1"/>
              <a:t>bike</a:t>
            </a:r>
            <a:r>
              <a:rPr lang="pl-PL" dirty="0"/>
              <a:t> </a:t>
            </a:r>
            <a:r>
              <a:rPr lang="pl-PL" dirty="0" err="1"/>
              <a:t>preference</a:t>
            </a:r>
            <a:r>
              <a:rPr lang="pl-PL" dirty="0"/>
              <a:t> (</a:t>
            </a:r>
            <a:r>
              <a:rPr lang="pl-PL" dirty="0" err="1"/>
              <a:t>commuting</a:t>
            </a:r>
            <a:r>
              <a:rPr lang="pl-PL" dirty="0"/>
              <a:t>, </a:t>
            </a:r>
            <a:r>
              <a:rPr lang="pl-PL" dirty="0" err="1"/>
              <a:t>routine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Casuals</a:t>
            </a:r>
            <a:r>
              <a:rPr lang="pl-PL" dirty="0"/>
              <a:t> = </a:t>
            </a:r>
            <a:r>
              <a:rPr lang="pl-PL" dirty="0" err="1"/>
              <a:t>higher</a:t>
            </a:r>
            <a:r>
              <a:rPr lang="pl-PL" dirty="0"/>
              <a:t> </a:t>
            </a:r>
            <a:r>
              <a:rPr lang="pl-PL" dirty="0" err="1"/>
              <a:t>electric</a:t>
            </a:r>
            <a:r>
              <a:rPr lang="pl-PL" dirty="0"/>
              <a:t> </a:t>
            </a:r>
            <a:r>
              <a:rPr lang="pl-PL" dirty="0" err="1"/>
              <a:t>bike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(</a:t>
            </a:r>
            <a:r>
              <a:rPr lang="pl-PL" dirty="0" err="1"/>
              <a:t>leisure</a:t>
            </a:r>
            <a:r>
              <a:rPr lang="pl-PL" dirty="0"/>
              <a:t>, </a:t>
            </a:r>
            <a:r>
              <a:rPr lang="pl-PL" dirty="0" err="1"/>
              <a:t>exploration</a:t>
            </a:r>
            <a:r>
              <a:rPr lang="pl-PL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Marketing </a:t>
            </a:r>
            <a:r>
              <a:rPr lang="pl-PL" dirty="0" err="1"/>
              <a:t>opportunity</a:t>
            </a:r>
            <a:r>
              <a:rPr lang="pl-PL" dirty="0"/>
              <a:t>: </a:t>
            </a:r>
            <a:r>
              <a:rPr lang="pl-PL" dirty="0" err="1"/>
              <a:t>highlight</a:t>
            </a:r>
            <a:r>
              <a:rPr lang="pl-PL" dirty="0"/>
              <a:t> </a:t>
            </a:r>
            <a:r>
              <a:rPr lang="pl-PL" b="1" dirty="0" err="1"/>
              <a:t>electric</a:t>
            </a:r>
            <a:r>
              <a:rPr lang="pl-PL" b="1" dirty="0"/>
              <a:t> </a:t>
            </a:r>
            <a:r>
              <a:rPr lang="pl-PL" b="1" dirty="0" err="1"/>
              <a:t>bike</a:t>
            </a:r>
            <a:r>
              <a:rPr lang="pl-PL" b="1" dirty="0"/>
              <a:t> </a:t>
            </a:r>
            <a:r>
              <a:rPr lang="pl-PL" b="1" dirty="0" err="1"/>
              <a:t>comfort</a:t>
            </a:r>
            <a:r>
              <a:rPr lang="pl-PL" dirty="0"/>
              <a:t> to </a:t>
            </a:r>
            <a:r>
              <a:rPr lang="pl-PL" dirty="0" err="1"/>
              <a:t>attract</a:t>
            </a:r>
            <a:r>
              <a:rPr lang="pl-PL" dirty="0"/>
              <a:t> </a:t>
            </a:r>
            <a:r>
              <a:rPr lang="pl-PL" dirty="0" err="1"/>
              <a:t>casuals</a:t>
            </a:r>
            <a:r>
              <a:rPr lang="pl-PL" dirty="0"/>
              <a:t>, and </a:t>
            </a:r>
            <a:r>
              <a:rPr lang="pl-PL" b="1" dirty="0" err="1"/>
              <a:t>membership</a:t>
            </a:r>
            <a:r>
              <a:rPr lang="pl-PL" b="1" dirty="0"/>
              <a:t> </a:t>
            </a:r>
            <a:r>
              <a:rPr lang="pl-PL" b="1" dirty="0" err="1"/>
              <a:t>savings</a:t>
            </a:r>
            <a:r>
              <a:rPr lang="pl-PL" dirty="0"/>
              <a:t> for </a:t>
            </a:r>
            <a:r>
              <a:rPr lang="pl-PL" dirty="0" err="1"/>
              <a:t>frequent</a:t>
            </a:r>
            <a:r>
              <a:rPr lang="pl-PL" dirty="0"/>
              <a:t> </a:t>
            </a:r>
            <a:r>
              <a:rPr lang="pl-PL" dirty="0" err="1"/>
              <a:t>riders</a:t>
            </a:r>
            <a:r>
              <a:rPr lang="pl-PL" dirty="0"/>
              <a:t>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56485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67C7C4-39B9-25FA-C7F7-01DF71C5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Top start </a:t>
            </a:r>
            <a:r>
              <a:rPr lang="pl-PL" dirty="0" err="1"/>
              <a:t>stations</a:t>
            </a:r>
            <a:r>
              <a:rPr lang="pl-PL" dirty="0"/>
              <a:t> (per </a:t>
            </a:r>
            <a:r>
              <a:rPr lang="pl-PL" dirty="0" err="1"/>
              <a:t>rider</a:t>
            </a:r>
            <a:r>
              <a:rPr lang="pl-PL" dirty="0"/>
              <a:t> </a:t>
            </a:r>
            <a:r>
              <a:rPr lang="pl-PL" dirty="0" err="1"/>
              <a:t>type</a:t>
            </a:r>
            <a:r>
              <a:rPr lang="pl-PL" dirty="0"/>
              <a:t>)</a:t>
            </a:r>
          </a:p>
        </p:txBody>
      </p:sp>
      <p:pic>
        <p:nvPicPr>
          <p:cNvPr id="12" name="Symbol zastępczy zawartości 11" descr="Obraz zawierający mapa, tekst, diagram, atlas&#10;&#10;Zawartość wygenerowana przez AI może być niepoprawna.">
            <a:extLst>
              <a:ext uri="{FF2B5EF4-FFF2-40B4-BE49-F238E27FC236}">
                <a16:creationId xmlns:a16="http://schemas.microsoft.com/office/drawing/2014/main" id="{2A050CCA-4F76-EEC1-E7A4-EBBB1959EB3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5442857" y="1366194"/>
            <a:ext cx="5022722" cy="4769430"/>
          </a:xfrm>
        </p:spPr>
      </p:pic>
    </p:spTree>
    <p:extLst>
      <p:ext uri="{BB962C8B-B14F-4D97-AF65-F5344CB8AC3E}">
        <p14:creationId xmlns:p14="http://schemas.microsoft.com/office/powerpoint/2010/main" val="3067826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ACF49-4CDD-8CA1-3299-0B57AE4A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EF470A8-F647-7AB8-0F9D-7FA361EF8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Top start </a:t>
            </a:r>
            <a:r>
              <a:rPr lang="pl-PL" dirty="0" err="1"/>
              <a:t>stations</a:t>
            </a:r>
            <a:r>
              <a:rPr lang="pl-PL" dirty="0"/>
              <a:t> (per </a:t>
            </a:r>
            <a:r>
              <a:rPr lang="pl-PL" dirty="0" err="1"/>
              <a:t>rider</a:t>
            </a:r>
            <a:r>
              <a:rPr lang="pl-PL" dirty="0"/>
              <a:t> </a:t>
            </a:r>
            <a:r>
              <a:rPr lang="pl-PL" dirty="0" err="1"/>
              <a:t>type</a:t>
            </a:r>
            <a:r>
              <a:rPr lang="pl-PL" dirty="0"/>
              <a:t>)</a:t>
            </a:r>
          </a:p>
        </p:txBody>
      </p:sp>
      <p:pic>
        <p:nvPicPr>
          <p:cNvPr id="12" name="Symbol zastępczy zawartości 11" descr="Obraz zawierający mapa, tekst, diagram, atlas&#10;&#10;Zawartość wygenerowana przez AI może być niepoprawna.">
            <a:extLst>
              <a:ext uri="{FF2B5EF4-FFF2-40B4-BE49-F238E27FC236}">
                <a16:creationId xmlns:a16="http://schemas.microsoft.com/office/drawing/2014/main" id="{5E92AFFE-0218-A8C9-4A1F-555A0029B9F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5442857" y="1366194"/>
            <a:ext cx="5022722" cy="4769430"/>
          </a:xfr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C45C41D5-1712-8BD9-DC50-B65316F73908}"/>
              </a:ext>
            </a:extLst>
          </p:cNvPr>
          <p:cNvSpPr txBox="1"/>
          <p:nvPr/>
        </p:nvSpPr>
        <p:spPr>
          <a:xfrm>
            <a:off x="424199" y="1525856"/>
            <a:ext cx="476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Casual </a:t>
            </a:r>
            <a:r>
              <a:rPr lang="pl-PL" dirty="0" err="1"/>
              <a:t>riders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bikes</a:t>
            </a:r>
            <a:r>
              <a:rPr lang="pl-PL" dirty="0"/>
              <a:t> </a:t>
            </a:r>
            <a:r>
              <a:rPr lang="pl-PL" dirty="0" err="1"/>
              <a:t>mainly</a:t>
            </a:r>
            <a:r>
              <a:rPr lang="pl-PL" dirty="0"/>
              <a:t> for </a:t>
            </a:r>
            <a:r>
              <a:rPr lang="pl-PL" b="1" dirty="0" err="1"/>
              <a:t>exploring</a:t>
            </a:r>
            <a:r>
              <a:rPr lang="pl-PL" b="1" dirty="0"/>
              <a:t> </a:t>
            </a:r>
            <a:r>
              <a:rPr lang="pl-PL" b="1" dirty="0" err="1"/>
              <a:t>attractions</a:t>
            </a:r>
            <a:r>
              <a:rPr lang="pl-PL" b="1" dirty="0"/>
              <a:t> and the </a:t>
            </a:r>
            <a:r>
              <a:rPr lang="pl-PL" b="1" dirty="0" err="1"/>
              <a:t>waterfront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Members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bikes</a:t>
            </a:r>
            <a:r>
              <a:rPr lang="pl-PL" dirty="0"/>
              <a:t> for </a:t>
            </a:r>
            <a:r>
              <a:rPr lang="pl-PL" b="1" dirty="0" err="1"/>
              <a:t>everyday</a:t>
            </a:r>
            <a:r>
              <a:rPr lang="pl-PL" b="1" dirty="0"/>
              <a:t> </a:t>
            </a:r>
            <a:r>
              <a:rPr lang="pl-PL" b="1" dirty="0" err="1"/>
              <a:t>commuting</a:t>
            </a:r>
            <a:r>
              <a:rPr lang="pl-PL" b="1" dirty="0"/>
              <a:t> and </a:t>
            </a:r>
            <a:r>
              <a:rPr lang="pl-PL" b="1" dirty="0" err="1"/>
              <a:t>local</a:t>
            </a:r>
            <a:r>
              <a:rPr lang="pl-PL" b="1" dirty="0"/>
              <a:t> </a:t>
            </a:r>
            <a:r>
              <a:rPr lang="pl-PL" b="1" dirty="0" err="1"/>
              <a:t>mobility</a:t>
            </a:r>
            <a:r>
              <a:rPr lang="pl-PL" dirty="0"/>
              <a:t>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07816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DC7-8279-DBBF-E48A-1570441F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5B2419-9B3C-C4FA-5A29-77FCBFF0E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10718498" cy="1801682"/>
          </a:xfrm>
        </p:spPr>
        <p:txBody>
          <a:bodyPr anchor="b">
            <a:normAutofit/>
          </a:bodyPr>
          <a:lstStyle/>
          <a:p>
            <a:r>
              <a:rPr lang="en-GB" dirty="0"/>
              <a:t>Conclusions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89988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1A082B-7A02-AD14-B30D-867534D56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 err="1"/>
              <a:t>Concusions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C5091E3-AA60-2734-ED38-8902F70377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 err="1"/>
              <a:t>Members</a:t>
            </a:r>
            <a:r>
              <a:rPr lang="pl-PL" dirty="0"/>
              <a:t> </a:t>
            </a:r>
            <a:r>
              <a:rPr lang="pl-PL" dirty="0" err="1"/>
              <a:t>ride</a:t>
            </a:r>
            <a:r>
              <a:rPr lang="pl-PL" dirty="0"/>
              <a:t>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dirty="0" err="1"/>
              <a:t>often</a:t>
            </a:r>
            <a:r>
              <a:rPr lang="pl-PL" dirty="0"/>
              <a:t>, </a:t>
            </a:r>
            <a:r>
              <a:rPr lang="pl-PL" dirty="0" err="1"/>
              <a:t>all</a:t>
            </a:r>
            <a:r>
              <a:rPr lang="pl-PL" dirty="0"/>
              <a:t> </a:t>
            </a:r>
            <a:r>
              <a:rPr lang="pl-PL" dirty="0" err="1"/>
              <a:t>year</a:t>
            </a:r>
            <a:r>
              <a:rPr lang="pl-PL" dirty="0"/>
              <a:t>, and </a:t>
            </a:r>
            <a:r>
              <a:rPr lang="pl-PL" dirty="0" err="1"/>
              <a:t>mainly</a:t>
            </a:r>
            <a:r>
              <a:rPr lang="pl-PL" dirty="0"/>
              <a:t> on </a:t>
            </a:r>
            <a:r>
              <a:rPr lang="pl-PL" dirty="0" err="1"/>
              <a:t>weekdays</a:t>
            </a:r>
            <a:r>
              <a:rPr lang="pl-PL" dirty="0"/>
              <a:t> and </a:t>
            </a:r>
            <a:r>
              <a:rPr lang="pl-PL" dirty="0" err="1"/>
              <a:t>commute</a:t>
            </a:r>
            <a:r>
              <a:rPr lang="pl-PL" dirty="0"/>
              <a:t> </a:t>
            </a:r>
            <a:r>
              <a:rPr lang="pl-PL" dirty="0" err="1"/>
              <a:t>hours</a:t>
            </a:r>
            <a:r>
              <a:rPr lang="pl-PL" dirty="0"/>
              <a:t>. Casual </a:t>
            </a:r>
            <a:r>
              <a:rPr lang="pl-PL" dirty="0" err="1"/>
              <a:t>riders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highly</a:t>
            </a:r>
            <a:r>
              <a:rPr lang="pl-PL" dirty="0"/>
              <a:t> </a:t>
            </a:r>
            <a:r>
              <a:rPr lang="pl-PL" dirty="0" err="1"/>
              <a:t>seasonal</a:t>
            </a:r>
            <a:r>
              <a:rPr lang="pl-PL" dirty="0"/>
              <a:t>, </a:t>
            </a:r>
            <a:r>
              <a:rPr lang="pl-PL" dirty="0" err="1"/>
              <a:t>focused</a:t>
            </a:r>
            <a:r>
              <a:rPr lang="pl-PL" dirty="0"/>
              <a:t> on </a:t>
            </a:r>
            <a:r>
              <a:rPr lang="pl-PL" dirty="0" err="1"/>
              <a:t>weekends</a:t>
            </a:r>
            <a:r>
              <a:rPr lang="pl-PL" dirty="0"/>
              <a:t>, </a:t>
            </a:r>
            <a:r>
              <a:rPr lang="pl-PL" dirty="0" err="1"/>
              <a:t>midday</a:t>
            </a:r>
            <a:r>
              <a:rPr lang="pl-PL" dirty="0"/>
              <a:t>, and </a:t>
            </a:r>
            <a:r>
              <a:rPr lang="pl-PL" dirty="0" err="1"/>
              <a:t>good</a:t>
            </a:r>
            <a:r>
              <a:rPr lang="pl-PL" dirty="0"/>
              <a:t> </a:t>
            </a:r>
            <a:r>
              <a:rPr lang="pl-PL" dirty="0" err="1"/>
              <a:t>weather</a:t>
            </a:r>
            <a:r>
              <a:rPr lang="pl-P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 err="1"/>
              <a:t>Member</a:t>
            </a:r>
            <a:r>
              <a:rPr lang="pl-PL" dirty="0"/>
              <a:t> </a:t>
            </a:r>
            <a:r>
              <a:rPr lang="pl-PL" dirty="0" err="1"/>
              <a:t>behavior</a:t>
            </a:r>
            <a:r>
              <a:rPr lang="pl-PL" dirty="0"/>
              <a:t> </a:t>
            </a:r>
            <a:r>
              <a:rPr lang="pl-PL" dirty="0" err="1"/>
              <a:t>looks</a:t>
            </a:r>
            <a:r>
              <a:rPr lang="pl-PL" dirty="0"/>
              <a:t> </a:t>
            </a:r>
            <a:r>
              <a:rPr lang="pl-PL" dirty="0" err="1"/>
              <a:t>like</a:t>
            </a:r>
            <a:r>
              <a:rPr lang="pl-PL" dirty="0"/>
              <a:t> </a:t>
            </a:r>
            <a:r>
              <a:rPr lang="pl-PL" b="1" dirty="0" err="1"/>
              <a:t>everyday</a:t>
            </a:r>
            <a:r>
              <a:rPr lang="pl-PL" b="1" dirty="0"/>
              <a:t> transport</a:t>
            </a:r>
            <a:r>
              <a:rPr lang="pl-PL" dirty="0"/>
              <a:t> (</a:t>
            </a:r>
            <a:r>
              <a:rPr lang="pl-PL" dirty="0" err="1"/>
              <a:t>shorter</a:t>
            </a:r>
            <a:r>
              <a:rPr lang="pl-PL" dirty="0"/>
              <a:t>, </a:t>
            </a:r>
            <a:r>
              <a:rPr lang="pl-PL" dirty="0" err="1"/>
              <a:t>consistent</a:t>
            </a:r>
            <a:r>
              <a:rPr lang="pl-PL" dirty="0"/>
              <a:t> </a:t>
            </a:r>
            <a:r>
              <a:rPr lang="pl-PL" dirty="0" err="1"/>
              <a:t>rides</a:t>
            </a:r>
            <a:r>
              <a:rPr lang="pl-PL" dirty="0"/>
              <a:t> from </a:t>
            </a:r>
            <a:r>
              <a:rPr lang="pl-PL" dirty="0" err="1"/>
              <a:t>commuter</a:t>
            </a:r>
            <a:r>
              <a:rPr lang="pl-PL" dirty="0"/>
              <a:t> </a:t>
            </a:r>
            <a:r>
              <a:rPr lang="pl-PL" dirty="0" err="1"/>
              <a:t>hubs</a:t>
            </a:r>
            <a:r>
              <a:rPr lang="pl-PL" dirty="0"/>
              <a:t>). Casual </a:t>
            </a:r>
            <a:r>
              <a:rPr lang="pl-PL" dirty="0" err="1"/>
              <a:t>behavior</a:t>
            </a:r>
            <a:r>
              <a:rPr lang="pl-PL" dirty="0"/>
              <a:t> </a:t>
            </a:r>
            <a:r>
              <a:rPr lang="pl-PL" dirty="0" err="1"/>
              <a:t>looks</a:t>
            </a:r>
            <a:r>
              <a:rPr lang="pl-PL" dirty="0"/>
              <a:t> </a:t>
            </a:r>
            <a:r>
              <a:rPr lang="pl-PL" dirty="0" err="1"/>
              <a:t>like</a:t>
            </a:r>
            <a:r>
              <a:rPr lang="pl-PL" dirty="0"/>
              <a:t> </a:t>
            </a:r>
            <a:r>
              <a:rPr lang="pl-PL" b="1" dirty="0" err="1"/>
              <a:t>leisure</a:t>
            </a:r>
            <a:r>
              <a:rPr lang="pl-PL" b="1" dirty="0"/>
              <a:t>/</a:t>
            </a:r>
            <a:r>
              <a:rPr lang="pl-PL" b="1" dirty="0" err="1"/>
              <a:t>tourism</a:t>
            </a:r>
            <a:r>
              <a:rPr lang="pl-PL" dirty="0"/>
              <a:t> (</a:t>
            </a:r>
            <a:r>
              <a:rPr lang="pl-PL" dirty="0" err="1"/>
              <a:t>longer</a:t>
            </a:r>
            <a:r>
              <a:rPr lang="pl-PL" dirty="0"/>
              <a:t> </a:t>
            </a:r>
            <a:r>
              <a:rPr lang="pl-PL" dirty="0" err="1"/>
              <a:t>rides</a:t>
            </a:r>
            <a:r>
              <a:rPr lang="pl-PL" dirty="0"/>
              <a:t>, </a:t>
            </a:r>
            <a:r>
              <a:rPr lang="pl-PL" dirty="0" err="1"/>
              <a:t>tourist</a:t>
            </a:r>
            <a:r>
              <a:rPr lang="pl-PL" dirty="0"/>
              <a:t> </a:t>
            </a:r>
            <a:r>
              <a:rPr lang="pl-PL" dirty="0" err="1"/>
              <a:t>areas</a:t>
            </a:r>
            <a:r>
              <a:rPr lang="pl-PL" dirty="0"/>
              <a:t>, e-</a:t>
            </a:r>
            <a:r>
              <a:rPr lang="pl-PL" dirty="0" err="1"/>
              <a:t>bikes</a:t>
            </a:r>
            <a:r>
              <a:rPr lang="pl-PL" dirty="0"/>
              <a:t>, </a:t>
            </a:r>
            <a:r>
              <a:rPr lang="pl-PL" dirty="0" err="1"/>
              <a:t>lakefront</a:t>
            </a:r>
            <a:r>
              <a:rPr lang="pl-PL" dirty="0"/>
              <a:t> </a:t>
            </a:r>
            <a:r>
              <a:rPr lang="pl-PL" dirty="0" err="1"/>
              <a:t>stations</a:t>
            </a:r>
            <a:r>
              <a:rPr lang="pl-PL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insights</a:t>
            </a:r>
            <a:r>
              <a:rPr lang="pl-PL" dirty="0"/>
              <a:t> on </a:t>
            </a:r>
            <a:r>
              <a:rPr lang="pl-PL" b="1" dirty="0" err="1"/>
              <a:t>when</a:t>
            </a:r>
            <a:r>
              <a:rPr lang="pl-PL" b="1" dirty="0"/>
              <a:t>, </a:t>
            </a:r>
            <a:r>
              <a:rPr lang="pl-PL" b="1" dirty="0" err="1"/>
              <a:t>where</a:t>
            </a:r>
            <a:r>
              <a:rPr lang="pl-PL" b="1" dirty="0"/>
              <a:t>, and </a:t>
            </a:r>
            <a:r>
              <a:rPr lang="pl-PL" b="1" dirty="0" err="1"/>
              <a:t>how</a:t>
            </a:r>
            <a:r>
              <a:rPr lang="pl-PL" dirty="0"/>
              <a:t> </a:t>
            </a:r>
            <a:r>
              <a:rPr lang="pl-PL" dirty="0" err="1"/>
              <a:t>casuals</a:t>
            </a:r>
            <a:r>
              <a:rPr lang="pl-PL" dirty="0"/>
              <a:t> </a:t>
            </a:r>
            <a:r>
              <a:rPr lang="pl-PL" dirty="0" err="1"/>
              <a:t>ride</a:t>
            </a:r>
            <a:r>
              <a:rPr lang="pl-PL" dirty="0"/>
              <a:t> to </a:t>
            </a:r>
            <a:r>
              <a:rPr lang="pl-PL" dirty="0" err="1"/>
              <a:t>position</a:t>
            </a:r>
            <a:r>
              <a:rPr lang="pl-PL" dirty="0"/>
              <a:t> </a:t>
            </a:r>
            <a:r>
              <a:rPr lang="pl-PL" dirty="0" err="1"/>
              <a:t>membership</a:t>
            </a:r>
            <a:r>
              <a:rPr lang="pl-PL" dirty="0"/>
              <a:t> as the </a:t>
            </a:r>
            <a:r>
              <a:rPr lang="pl-PL" dirty="0" err="1"/>
              <a:t>cheaper</a:t>
            </a:r>
            <a:r>
              <a:rPr lang="pl-PL" dirty="0"/>
              <a:t>,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dirty="0" err="1"/>
              <a:t>convenient</a:t>
            </a:r>
            <a:r>
              <a:rPr lang="pl-PL" dirty="0"/>
              <a:t> </a:t>
            </a:r>
            <a:r>
              <a:rPr lang="pl-PL" dirty="0" err="1"/>
              <a:t>option</a:t>
            </a:r>
            <a:r>
              <a:rPr lang="pl-PL" dirty="0"/>
              <a:t> for the </a:t>
            </a:r>
            <a:r>
              <a:rPr lang="pl-PL" dirty="0" err="1"/>
              <a:t>patterns</a:t>
            </a:r>
            <a:r>
              <a:rPr lang="pl-PL" dirty="0"/>
              <a:t> </a:t>
            </a:r>
            <a:r>
              <a:rPr lang="pl-PL" dirty="0" err="1"/>
              <a:t>they</a:t>
            </a:r>
            <a:r>
              <a:rPr lang="pl-PL" dirty="0"/>
              <a:t> </a:t>
            </a:r>
            <a:r>
              <a:rPr lang="pl-PL" dirty="0" err="1"/>
              <a:t>already</a:t>
            </a:r>
            <a:r>
              <a:rPr lang="pl-PL" dirty="0"/>
              <a:t> </a:t>
            </a:r>
            <a:r>
              <a:rPr lang="pl-PL" dirty="0" err="1"/>
              <a:t>have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174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498D20-33AC-BF39-0B56-F4B87D6533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pl-PL" sz="9600" dirty="0" err="1"/>
              <a:t>Thank</a:t>
            </a:r>
            <a:r>
              <a:rPr lang="pl-PL" sz="9600" dirty="0"/>
              <a:t> </a:t>
            </a:r>
            <a:r>
              <a:rPr lang="pl-PL" sz="9600" dirty="0" err="1"/>
              <a:t>you</a:t>
            </a:r>
            <a:endParaRPr lang="pl-PL" sz="9600" dirty="0"/>
          </a:p>
        </p:txBody>
      </p:sp>
    </p:spTree>
    <p:extLst>
      <p:ext uri="{BB962C8B-B14F-4D97-AF65-F5344CB8AC3E}">
        <p14:creationId xmlns:p14="http://schemas.microsoft.com/office/powerpoint/2010/main" val="1052586465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3725</TotalTime>
  <Words>1410</Words>
  <Application>Microsoft Macintosh PowerPoint</Application>
  <PresentationFormat>Panoramiczny</PresentationFormat>
  <Paragraphs>162</Paragraphs>
  <Slides>21</Slides>
  <Notes>16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5" baseType="lpstr">
      <vt:lpstr>Aptos</vt:lpstr>
      <vt:lpstr>Aptos Light</vt:lpstr>
      <vt:lpstr>Arial</vt:lpstr>
      <vt:lpstr>Chroma</vt:lpstr>
      <vt:lpstr>How members vs. casuals ride differently</vt:lpstr>
      <vt:lpstr>What are we talking about?</vt:lpstr>
      <vt:lpstr>Objective</vt:lpstr>
      <vt:lpstr>Framing &amp; methodology</vt:lpstr>
      <vt:lpstr>Framing &amp; methodology</vt:lpstr>
      <vt:lpstr>Present data</vt:lpstr>
      <vt:lpstr>Monthly trends</vt:lpstr>
      <vt:lpstr>Monthly trends</vt:lpstr>
      <vt:lpstr>Monthly trends</vt:lpstr>
      <vt:lpstr>Monthly trends</vt:lpstr>
      <vt:lpstr>Weekday vs weekend</vt:lpstr>
      <vt:lpstr>Weekday vs weekend</vt:lpstr>
      <vt:lpstr>Daypart</vt:lpstr>
      <vt:lpstr>Daypart</vt:lpstr>
      <vt:lpstr>Bike type</vt:lpstr>
      <vt:lpstr>Bike type</vt:lpstr>
      <vt:lpstr>Top start stations (per rider type)</vt:lpstr>
      <vt:lpstr>Top start stations (per rider type)</vt:lpstr>
      <vt:lpstr>Conclusions</vt:lpstr>
      <vt:lpstr>Concusions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Dmytro Malymon</dc:creator>
  <cp:lastModifiedBy>Dmytro Malymon</cp:lastModifiedBy>
  <cp:revision>3</cp:revision>
  <dcterms:created xsi:type="dcterms:W3CDTF">2025-10-08T13:43:57Z</dcterms:created>
  <dcterms:modified xsi:type="dcterms:W3CDTF">2025-11-06T17:43:17Z</dcterms:modified>
</cp:coreProperties>
</file>